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notesMasterIdLst>
    <p:notesMasterId r:id="rId5"/>
  </p:notesMasterIdLst>
  <p:sldIdLst>
    <p:sldId id="267" r:id="rId2"/>
    <p:sldId id="258" r:id="rId3"/>
    <p:sldId id="269" r:id="rId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  <a:srgbClr val="4A9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76" autoAdjust="0"/>
    <p:restoredTop sz="95064" autoAdjust="0"/>
  </p:normalViewPr>
  <p:slideViewPr>
    <p:cSldViewPr snapToGrid="0">
      <p:cViewPr>
        <p:scale>
          <a:sx n="66" d="100"/>
          <a:sy n="66" d="100"/>
        </p:scale>
        <p:origin x="157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E6893-BEB5-4075-BD3F-128ABB71360A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86216-36FD-425B-B054-62CCFC076B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46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86216-36FD-425B-B054-62CCFC076B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1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8825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32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3840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4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9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66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40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67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61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12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56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C22C508-419B-4A16-A624-CDC4B5A1808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7B06660-5FA0-4610-AE6D-F7E2ADC2A0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96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그룹 91">
            <a:extLst>
              <a:ext uri="{FF2B5EF4-FFF2-40B4-BE49-F238E27FC236}">
                <a16:creationId xmlns:a16="http://schemas.microsoft.com/office/drawing/2014/main" id="{D81BEB5D-65DB-4999-86E9-00F952D4A8BE}"/>
              </a:ext>
            </a:extLst>
          </p:cNvPr>
          <p:cNvGrpSpPr/>
          <p:nvPr/>
        </p:nvGrpSpPr>
        <p:grpSpPr>
          <a:xfrm>
            <a:off x="1011715" y="1624334"/>
            <a:ext cx="3606955" cy="599826"/>
            <a:chOff x="324110" y="326612"/>
            <a:chExt cx="3606955" cy="599826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C89DA7C-5DDD-4B74-B786-63130F1B2172}"/>
                </a:ext>
              </a:extLst>
            </p:cNvPr>
            <p:cNvSpPr/>
            <p:nvPr userDrawn="1"/>
          </p:nvSpPr>
          <p:spPr>
            <a:xfrm>
              <a:off x="324110" y="526328"/>
              <a:ext cx="281116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20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CONTENTS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27FABB9F-6CA2-45F0-96BE-2AD479A94F4E}"/>
                </a:ext>
              </a:extLst>
            </p:cNvPr>
            <p:cNvSpPr/>
            <p:nvPr userDrawn="1"/>
          </p:nvSpPr>
          <p:spPr>
            <a:xfrm>
              <a:off x="347319" y="326612"/>
              <a:ext cx="358374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altLang="ko-KR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2026</a:t>
              </a:r>
              <a:r>
                <a:rPr lang="ko-KR" altLang="en-US" sz="900" dirty="0">
                  <a:ln w="3175">
                    <a:solidFill>
                      <a:schemeClr val="bg1">
                        <a:alpha val="20000"/>
                      </a:schemeClr>
                    </a:solidFill>
                  </a:ln>
                  <a:latin typeface="페이퍼로지 3 Light" pitchFamily="2" charset="-127"/>
                  <a:ea typeface="페이퍼로지 3 Light" pitchFamily="2" charset="-127"/>
                </a:rPr>
                <a:t>년 상반기 세종지사 사내프로젝트 발표</a:t>
              </a:r>
              <a:endParaRPr lang="en-US" altLang="ko-KR" sz="900" dirty="0">
                <a:ln w="3175">
                  <a:solidFill>
                    <a:schemeClr val="bg1">
                      <a:alpha val="20000"/>
                    </a:schemeClr>
                  </a:solidFill>
                </a:ln>
                <a:latin typeface="페이퍼로지 3 Light" pitchFamily="2" charset="-127"/>
                <a:ea typeface="페이퍼로지 3 Light" pitchFamily="2" charset="-127"/>
              </a:endParaRPr>
            </a:p>
          </p:txBody>
        </p: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FF61AEB-20FA-4E3E-A5D0-8E792EC19DB8}"/>
              </a:ext>
            </a:extLst>
          </p:cNvPr>
          <p:cNvSpPr/>
          <p:nvPr/>
        </p:nvSpPr>
        <p:spPr>
          <a:xfrm>
            <a:off x="2325999" y="3360863"/>
            <a:ext cx="1772601" cy="175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프로젝트 개요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시스템 아키텍처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핵심 기능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보안 </a:t>
            </a:r>
            <a:r>
              <a:rPr lang="en-US" altLang="ko-KR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&amp; </a:t>
            </a: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운영 정책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  <a:p>
            <a:pPr marL="288000" indent="-28800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1500" dirty="0">
                <a:ln w="3175">
                  <a:noFill/>
                </a:ln>
                <a:latin typeface="페이퍼로지 7 Bold" pitchFamily="2" charset="-127"/>
                <a:ea typeface="페이퍼로지 7 Bold" pitchFamily="2" charset="-127"/>
                <a:cs typeface="Pretendard SemiBold" panose="02000703000000020004" pitchFamily="2" charset="-127"/>
              </a:rPr>
              <a:t>향후 보완 사항</a:t>
            </a:r>
            <a:endParaRPr lang="en-US" altLang="ko-KR" sz="1500" dirty="0">
              <a:ln w="3175">
                <a:noFill/>
              </a:ln>
              <a:latin typeface="페이퍼로지 7 Bold" pitchFamily="2" charset="-127"/>
              <a:ea typeface="페이퍼로지 7 Bold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F7BE38B-5BF2-449D-8490-9C90A1CFB7EF}"/>
              </a:ext>
            </a:extLst>
          </p:cNvPr>
          <p:cNvSpPr/>
          <p:nvPr/>
        </p:nvSpPr>
        <p:spPr>
          <a:xfrm>
            <a:off x="2283252" y="2469346"/>
            <a:ext cx="5423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 err="1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NewsSignal</a:t>
            </a:r>
            <a:endParaRPr lang="en-US" altLang="ko-KR" sz="3600" dirty="0">
              <a:ln w="3175">
                <a:noFill/>
              </a:ln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2C549E2-DC3A-4D8A-9846-B247090A1692}"/>
              </a:ext>
            </a:extLst>
          </p:cNvPr>
          <p:cNvSpPr/>
          <p:nvPr/>
        </p:nvSpPr>
        <p:spPr>
          <a:xfrm>
            <a:off x="1316770" y="2423876"/>
            <a:ext cx="1009229" cy="769441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4400" dirty="0">
                <a:ln w="3175">
                  <a:noFill/>
                </a:ln>
                <a:latin typeface="페이퍼로지 8 ExtraBold" pitchFamily="2" charset="-127"/>
                <a:ea typeface="페이퍼로지 8 ExtraBold" pitchFamily="2" charset="-127"/>
              </a:rPr>
              <a:t>Ⅳ</a:t>
            </a:r>
          </a:p>
        </p:txBody>
      </p:sp>
    </p:spTree>
    <p:extLst>
      <p:ext uri="{BB962C8B-B14F-4D97-AF65-F5344CB8AC3E}">
        <p14:creationId xmlns:p14="http://schemas.microsoft.com/office/powerpoint/2010/main" val="66308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81F8EA69-1F90-4954-9C75-C1E6F4771776}"/>
              </a:ext>
            </a:extLst>
          </p:cNvPr>
          <p:cNvGrpSpPr/>
          <p:nvPr/>
        </p:nvGrpSpPr>
        <p:grpSpPr>
          <a:xfrm>
            <a:off x="7259481" y="1042875"/>
            <a:ext cx="3761065" cy="338214"/>
            <a:chOff x="6889757" y="1042875"/>
            <a:chExt cx="2825744" cy="338214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86127120-E283-4B12-AF48-FE3DB7296CA5}"/>
                </a:ext>
              </a:extLst>
            </p:cNvPr>
            <p:cNvCxnSpPr>
              <a:cxnSpLocks/>
            </p:cNvCxnSpPr>
            <p:nvPr/>
          </p:nvCxnSpPr>
          <p:spPr>
            <a:xfrm>
              <a:off x="6889757" y="1203530"/>
              <a:ext cx="2825744" cy="0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B6998616-76E8-402A-A55F-C96F768BC723}"/>
                </a:ext>
              </a:extLst>
            </p:cNvPr>
            <p:cNvSpPr/>
            <p:nvPr/>
          </p:nvSpPr>
          <p:spPr>
            <a:xfrm>
              <a:off x="7330583" y="1042875"/>
              <a:ext cx="1951476" cy="338214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배경 및 필요성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CB79A79C-DD8E-4E1E-9827-D8D723D8F648}"/>
                </a:ext>
              </a:extLst>
            </p:cNvPr>
            <p:cNvCxnSpPr>
              <a:cxnSpLocks/>
              <a:stCxn id="33" idx="0"/>
              <a:endCxn id="33" idx="3"/>
            </p:cNvCxnSpPr>
            <p:nvPr/>
          </p:nvCxnSpPr>
          <p:spPr>
            <a:xfrm>
              <a:off x="7330583" y="1042875"/>
              <a:ext cx="0" cy="338214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58938278-26AE-4346-9329-F1616E15BD72}"/>
                </a:ext>
              </a:extLst>
            </p:cNvPr>
            <p:cNvCxnSpPr>
              <a:cxnSpLocks/>
              <a:stCxn id="33" idx="1"/>
              <a:endCxn id="33" idx="2"/>
            </p:cNvCxnSpPr>
            <p:nvPr/>
          </p:nvCxnSpPr>
          <p:spPr>
            <a:xfrm>
              <a:off x="9282059" y="1042875"/>
              <a:ext cx="0" cy="338214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E24128-CC64-4D69-85FF-ACF6518961EC}"/>
              </a:ext>
            </a:extLst>
          </p:cNvPr>
          <p:cNvSpPr/>
          <p:nvPr/>
        </p:nvSpPr>
        <p:spPr>
          <a:xfrm>
            <a:off x="401181" y="1433144"/>
            <a:ext cx="6415517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+mn-cs"/>
              </a:rPr>
              <a:t>2026년 6월 8일 ~ 2026년 </a:t>
            </a:r>
            <a:r>
              <a:rPr lang="en-US" altLang="ko-KR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6</a:t>
            </a:r>
            <a:r>
              <a:rPr lang="ko-KR" altLang="en-US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월 </a:t>
            </a:r>
            <a:r>
              <a:rPr lang="en-US" altLang="ko-KR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16</a:t>
            </a:r>
            <a:r>
              <a:rPr lang="ko-KR" altLang="en-US" sz="1600" dirty="0">
                <a:solidFill>
                  <a:prstClr val="black"/>
                </a:solidFill>
                <a:latin typeface="프리젠테이션 5 Medium" pitchFamily="2" charset="-127"/>
                <a:ea typeface="프리젠테이션 5 Medium" pitchFamily="2" charset="-127"/>
              </a:rPr>
              <a:t>일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+mn-cs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2DC823F-44A1-42E2-92FA-FD1882C5A313}"/>
              </a:ext>
            </a:extLst>
          </p:cNvPr>
          <p:cNvCxnSpPr>
            <a:cxnSpLocks/>
          </p:cNvCxnSpPr>
          <p:nvPr/>
        </p:nvCxnSpPr>
        <p:spPr>
          <a:xfrm>
            <a:off x="401181" y="1192768"/>
            <a:ext cx="6415520" cy="0"/>
          </a:xfrm>
          <a:prstGeom prst="line">
            <a:avLst/>
          </a:prstGeom>
          <a:ln w="3175">
            <a:solidFill>
              <a:schemeClr val="tx2"/>
            </a:solidFill>
            <a:prstDash val="lgDash"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5F8F4277-85CC-4987-B40B-F63A32A41F5B}"/>
              </a:ext>
            </a:extLst>
          </p:cNvPr>
          <p:cNvSpPr/>
          <p:nvPr/>
        </p:nvSpPr>
        <p:spPr>
          <a:xfrm>
            <a:off x="2835430" y="1060721"/>
            <a:ext cx="1552897" cy="277987"/>
          </a:xfrm>
          <a:custGeom>
            <a:avLst/>
            <a:gdLst>
              <a:gd name="connsiteX0" fmla="*/ 0 w 1267455"/>
              <a:gd name="connsiteY0" fmla="*/ 0 h 553998"/>
              <a:gd name="connsiteX1" fmla="*/ 1267455 w 1267455"/>
              <a:gd name="connsiteY1" fmla="*/ 0 h 553998"/>
              <a:gd name="connsiteX2" fmla="*/ 1267455 w 1267455"/>
              <a:gd name="connsiteY2" fmla="*/ 553998 h 553998"/>
              <a:gd name="connsiteX3" fmla="*/ 0 w 1267455"/>
              <a:gd name="connsiteY3" fmla="*/ 553998 h 55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7455" h="553998">
                <a:moveTo>
                  <a:pt x="0" y="0"/>
                </a:moveTo>
                <a:lnTo>
                  <a:pt x="1267455" y="0"/>
                </a:lnTo>
                <a:lnTo>
                  <a:pt x="1267455" y="553998"/>
                </a:lnTo>
                <a:lnTo>
                  <a:pt x="0" y="553998"/>
                </a:lnTo>
                <a:close/>
              </a:path>
            </a:pathLst>
          </a:custGeom>
          <a:solidFill>
            <a:schemeClr val="bg1"/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기간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874E98D-411F-4556-8836-C6408259FF6F}"/>
              </a:ext>
            </a:extLst>
          </p:cNvPr>
          <p:cNvCxnSpPr>
            <a:cxnSpLocks/>
            <a:stCxn id="6" idx="0"/>
            <a:endCxn id="6" idx="3"/>
          </p:cNvCxnSpPr>
          <p:nvPr/>
        </p:nvCxnSpPr>
        <p:spPr>
          <a:xfrm>
            <a:off x="2835430" y="1060721"/>
            <a:ext cx="0" cy="277987"/>
          </a:xfrm>
          <a:prstGeom prst="line">
            <a:avLst/>
          </a:prstGeom>
          <a:ln w="3175">
            <a:solidFill>
              <a:schemeClr val="tx2"/>
            </a:solidFill>
            <a:prstDash val="lg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3806553-F43C-4E37-A270-448AA6B24466}"/>
              </a:ext>
            </a:extLst>
          </p:cNvPr>
          <p:cNvCxnSpPr>
            <a:cxnSpLocks/>
            <a:stCxn id="6" idx="1"/>
            <a:endCxn id="6" idx="2"/>
          </p:cNvCxnSpPr>
          <p:nvPr/>
        </p:nvCxnSpPr>
        <p:spPr>
          <a:xfrm>
            <a:off x="4388328" y="1060721"/>
            <a:ext cx="0" cy="277987"/>
          </a:xfrm>
          <a:prstGeom prst="line">
            <a:avLst/>
          </a:prstGeom>
          <a:ln w="3175">
            <a:solidFill>
              <a:schemeClr val="tx2"/>
            </a:solidFill>
            <a:prstDash val="lgDash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BB09930B-D817-4E1A-BB53-30E00A46D770}"/>
              </a:ext>
            </a:extLst>
          </p:cNvPr>
          <p:cNvGrpSpPr/>
          <p:nvPr/>
        </p:nvGrpSpPr>
        <p:grpSpPr>
          <a:xfrm>
            <a:off x="401181" y="2101327"/>
            <a:ext cx="6415520" cy="277987"/>
            <a:chOff x="286830" y="1633856"/>
            <a:chExt cx="6285420" cy="277987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FEFD277-A7F4-4C04-A023-E741207B9AFA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0" y="1765903"/>
              <a:ext cx="6285420" cy="0"/>
            </a:xfrm>
            <a:prstGeom prst="line">
              <a:avLst/>
            </a:prstGeom>
            <a:ln w="3175">
              <a:solidFill>
                <a:schemeClr val="accent1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30E25DDC-A574-4A57-9441-75A885AD1499}"/>
                </a:ext>
              </a:extLst>
            </p:cNvPr>
            <p:cNvSpPr/>
            <p:nvPr/>
          </p:nvSpPr>
          <p:spPr>
            <a:xfrm>
              <a:off x="2671715" y="1633856"/>
              <a:ext cx="1521406" cy="277987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accent1">
                      <a:lumMod val="50000"/>
                    </a:schemeClr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사업 목적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DAA8BFF-7313-4EBB-9BB4-621923FBAFD2}"/>
                </a:ext>
              </a:extLst>
            </p:cNvPr>
            <p:cNvCxnSpPr>
              <a:cxnSpLocks/>
              <a:stCxn id="11" idx="0"/>
              <a:endCxn id="11" idx="3"/>
            </p:cNvCxnSpPr>
            <p:nvPr/>
          </p:nvCxnSpPr>
          <p:spPr>
            <a:xfrm>
              <a:off x="2671715" y="1633856"/>
              <a:ext cx="0" cy="277987"/>
            </a:xfrm>
            <a:prstGeom prst="line">
              <a:avLst/>
            </a:prstGeom>
            <a:ln w="3175">
              <a:solidFill>
                <a:schemeClr val="accent1">
                  <a:lumMod val="50000"/>
                </a:schemeClr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A467CD0-D419-422B-9DA7-F7CCC8F9AFFE}"/>
                </a:ext>
              </a:extLst>
            </p:cNvPr>
            <p:cNvCxnSpPr>
              <a:cxnSpLocks/>
              <a:stCxn id="11" idx="1"/>
              <a:endCxn id="11" idx="2"/>
            </p:cNvCxnSpPr>
            <p:nvPr/>
          </p:nvCxnSpPr>
          <p:spPr>
            <a:xfrm>
              <a:off x="4193122" y="1633856"/>
              <a:ext cx="0" cy="277987"/>
            </a:xfrm>
            <a:prstGeom prst="line">
              <a:avLst/>
            </a:prstGeom>
            <a:ln w="3175">
              <a:solidFill>
                <a:schemeClr val="accent1">
                  <a:lumMod val="50000"/>
                </a:schemeClr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8C86948-CE60-4979-9660-85B00E437185}"/>
              </a:ext>
            </a:extLst>
          </p:cNvPr>
          <p:cNvGrpSpPr/>
          <p:nvPr/>
        </p:nvGrpSpPr>
        <p:grpSpPr>
          <a:xfrm>
            <a:off x="466231" y="2593370"/>
            <a:ext cx="6285420" cy="945723"/>
            <a:chOff x="547410" y="3631458"/>
            <a:chExt cx="5405809" cy="126567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F0CF058-80C3-41DB-A1A9-F0D47946979B}"/>
                </a:ext>
              </a:extLst>
            </p:cNvPr>
            <p:cNvSpPr/>
            <p:nvPr/>
          </p:nvSpPr>
          <p:spPr>
            <a:xfrm>
              <a:off x="547410" y="3631458"/>
              <a:ext cx="5405809" cy="1265678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132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+mn-cs"/>
              </a:endParaRP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139D8706-B459-43BD-8F3D-D0B0EACE220F}"/>
                </a:ext>
              </a:extLst>
            </p:cNvPr>
            <p:cNvSpPr/>
            <p:nvPr/>
          </p:nvSpPr>
          <p:spPr>
            <a:xfrm>
              <a:off x="615951" y="3721117"/>
              <a:ext cx="5268726" cy="1086359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프리젠테이션 5 Medium" pitchFamily="2" charset="-127"/>
                  <a:ea typeface="프리젠테이션 5 Medium" pitchFamily="2" charset="-127"/>
                  <a:cs typeface="+mn-cs"/>
                </a:rPr>
                <a:t>통합 시스템 최적화 및 고품질 유지관리를 통한</a:t>
              </a:r>
              <a:b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프리젠테이션 5 Medium" pitchFamily="2" charset="-127"/>
                  <a:ea typeface="프리젠테이션 5 Medium" pitchFamily="2" charset="-127"/>
                  <a:cs typeface="+mn-cs"/>
                </a:rPr>
              </a:br>
              <a:r>
                <a:rPr lang="ko-KR" altLang="en-US" sz="2000" dirty="0">
                  <a:solidFill>
                    <a:schemeClr val="accent1">
                      <a:lumMod val="50000"/>
                    </a:schemeClr>
                  </a:solidFill>
                  <a:latin typeface="프리젠테이션 7 Bold" pitchFamily="2" charset="-127"/>
                  <a:ea typeface="프리젠테이션 7 Bold" pitchFamily="2" charset="-127"/>
                </a:rPr>
                <a:t>중단 없는 안정적 서비스 운영</a:t>
              </a: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  <a:cs typeface="+mn-cs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83831FD-6190-4628-8598-21440F546ECB}"/>
              </a:ext>
            </a:extLst>
          </p:cNvPr>
          <p:cNvGrpSpPr/>
          <p:nvPr/>
        </p:nvGrpSpPr>
        <p:grpSpPr>
          <a:xfrm>
            <a:off x="401181" y="3854862"/>
            <a:ext cx="6415520" cy="277987"/>
            <a:chOff x="320600" y="3902813"/>
            <a:chExt cx="6285420" cy="277987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EEC2E7C-BC8F-47D3-8576-AF7D87C49CA8}"/>
                </a:ext>
              </a:extLst>
            </p:cNvPr>
            <p:cNvCxnSpPr>
              <a:cxnSpLocks/>
            </p:cNvCxnSpPr>
            <p:nvPr/>
          </p:nvCxnSpPr>
          <p:spPr>
            <a:xfrm>
              <a:off x="320600" y="4034860"/>
              <a:ext cx="6285420" cy="0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4128CB1E-101F-49A8-AB56-E084A08EB069}"/>
                </a:ext>
              </a:extLst>
            </p:cNvPr>
            <p:cNvSpPr/>
            <p:nvPr/>
          </p:nvSpPr>
          <p:spPr>
            <a:xfrm>
              <a:off x="2705485" y="3902813"/>
              <a:ext cx="1521406" cy="277987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목표</a:t>
              </a: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E354F0D-EBE5-40B8-B770-1B312957B713}"/>
                </a:ext>
              </a:extLst>
            </p:cNvPr>
            <p:cNvCxnSpPr>
              <a:cxnSpLocks/>
              <a:stCxn id="19" idx="0"/>
              <a:endCxn id="19" idx="3"/>
            </p:cNvCxnSpPr>
            <p:nvPr/>
          </p:nvCxnSpPr>
          <p:spPr>
            <a:xfrm>
              <a:off x="2705485" y="3902813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52426E2-7473-4161-95B3-68DB9550AC93}"/>
                </a:ext>
              </a:extLst>
            </p:cNvPr>
            <p:cNvCxnSpPr>
              <a:cxnSpLocks/>
              <a:stCxn id="19" idx="1"/>
              <a:endCxn id="19" idx="2"/>
            </p:cNvCxnSpPr>
            <p:nvPr/>
          </p:nvCxnSpPr>
          <p:spPr>
            <a:xfrm>
              <a:off x="4226892" y="3902813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36F2E86-6D7D-409B-9B7C-C64D46DB1469}"/>
              </a:ext>
            </a:extLst>
          </p:cNvPr>
          <p:cNvGrpSpPr/>
          <p:nvPr/>
        </p:nvGrpSpPr>
        <p:grpSpPr>
          <a:xfrm>
            <a:off x="401181" y="2101327"/>
            <a:ext cx="6415520" cy="277987"/>
            <a:chOff x="286830" y="1633856"/>
            <a:chExt cx="6285420" cy="277987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121E62A-EA09-45E7-8C04-22C16CDFF6A3}"/>
                </a:ext>
              </a:extLst>
            </p:cNvPr>
            <p:cNvCxnSpPr>
              <a:cxnSpLocks/>
            </p:cNvCxnSpPr>
            <p:nvPr/>
          </p:nvCxnSpPr>
          <p:spPr>
            <a:xfrm>
              <a:off x="286830" y="1765903"/>
              <a:ext cx="6285420" cy="0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0039FEF2-9736-4C0D-B610-751F45D214EB}"/>
                </a:ext>
              </a:extLst>
            </p:cNvPr>
            <p:cNvSpPr/>
            <p:nvPr/>
          </p:nvSpPr>
          <p:spPr>
            <a:xfrm>
              <a:off x="2671715" y="1633856"/>
              <a:ext cx="1521406" cy="277987"/>
            </a:xfrm>
            <a:custGeom>
              <a:avLst/>
              <a:gdLst>
                <a:gd name="connsiteX0" fmla="*/ 0 w 1267455"/>
                <a:gd name="connsiteY0" fmla="*/ 0 h 553998"/>
                <a:gd name="connsiteX1" fmla="*/ 1267455 w 1267455"/>
                <a:gd name="connsiteY1" fmla="*/ 0 h 553998"/>
                <a:gd name="connsiteX2" fmla="*/ 1267455 w 1267455"/>
                <a:gd name="connsiteY2" fmla="*/ 553998 h 553998"/>
                <a:gd name="connsiteX3" fmla="*/ 0 w 1267455"/>
                <a:gd name="connsiteY3" fmla="*/ 553998 h 553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455" h="553998">
                  <a:moveTo>
                    <a:pt x="0" y="0"/>
                  </a:moveTo>
                  <a:lnTo>
                    <a:pt x="1267455" y="0"/>
                  </a:lnTo>
                  <a:lnTo>
                    <a:pt x="1267455" y="553998"/>
                  </a:lnTo>
                  <a:lnTo>
                    <a:pt x="0" y="553998"/>
                  </a:lnTo>
                  <a:close/>
                </a:path>
              </a:pathLst>
            </a:custGeom>
            <a:solidFill>
              <a:schemeClr val="bg1"/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6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목적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7E6707F-7E92-4F97-8604-F7620223B8F2}"/>
                </a:ext>
              </a:extLst>
            </p:cNvPr>
            <p:cNvCxnSpPr>
              <a:cxnSpLocks/>
              <a:stCxn id="24" idx="0"/>
              <a:endCxn id="24" idx="3"/>
            </p:cNvCxnSpPr>
            <p:nvPr/>
          </p:nvCxnSpPr>
          <p:spPr>
            <a:xfrm>
              <a:off x="2671715" y="1633856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84B18696-D3DC-4C84-A383-BBCCDED6E6CF}"/>
                </a:ext>
              </a:extLst>
            </p:cNvPr>
            <p:cNvCxnSpPr>
              <a:cxnSpLocks/>
              <a:stCxn id="24" idx="1"/>
              <a:endCxn id="24" idx="2"/>
            </p:cNvCxnSpPr>
            <p:nvPr/>
          </p:nvCxnSpPr>
          <p:spPr>
            <a:xfrm>
              <a:off x="4193122" y="1633856"/>
              <a:ext cx="0" cy="277987"/>
            </a:xfrm>
            <a:prstGeom prst="line">
              <a:avLst/>
            </a:prstGeom>
            <a:ln w="3175">
              <a:solidFill>
                <a:schemeClr val="tx2"/>
              </a:solidFill>
              <a:prstDash val="lg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9160FB5-FF09-4FC2-B953-F7B6BF59858C}"/>
              </a:ext>
            </a:extLst>
          </p:cNvPr>
          <p:cNvGrpSpPr/>
          <p:nvPr/>
        </p:nvGrpSpPr>
        <p:grpSpPr>
          <a:xfrm>
            <a:off x="466231" y="2593370"/>
            <a:ext cx="6285420" cy="945723"/>
            <a:chOff x="547410" y="3631458"/>
            <a:chExt cx="5405809" cy="1265678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97495091-4B06-40BE-8250-8CFB043A1A52}"/>
                </a:ext>
              </a:extLst>
            </p:cNvPr>
            <p:cNvSpPr/>
            <p:nvPr/>
          </p:nvSpPr>
          <p:spPr>
            <a:xfrm>
              <a:off x="547410" y="3631458"/>
              <a:ext cx="5405809" cy="1265678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13200000" scaled="0"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+mn-cs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E2A254E5-1EBC-4714-9497-BAA36107F654}"/>
                </a:ext>
              </a:extLst>
            </p:cNvPr>
            <p:cNvSpPr/>
            <p:nvPr/>
          </p:nvSpPr>
          <p:spPr>
            <a:xfrm>
              <a:off x="615951" y="3721117"/>
              <a:ext cx="5268726" cy="1086359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/>
                </a:gs>
                <a:gs pos="9000">
                  <a:schemeClr val="bg1">
                    <a:lumMod val="9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defRPr/>
              </a:pPr>
              <a:r>
                <a:rPr lang="ko-KR" altLang="en-US" sz="1400" dirty="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뉴스 기반 주식 호재</a:t>
              </a:r>
              <a:r>
                <a:rPr lang="en-US" altLang="ko-KR" sz="1400" dirty="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·</a:t>
              </a:r>
              <a:r>
                <a:rPr lang="ko-KR" altLang="en-US" sz="1400" dirty="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악재 분석 대시보드</a:t>
              </a:r>
              <a:b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프리젠테이션 5 Medium" pitchFamily="2" charset="-127"/>
                  <a:ea typeface="프리젠테이션 5 Medium" pitchFamily="2" charset="-127"/>
                  <a:cs typeface="+mn-cs"/>
                </a:rPr>
              </a:br>
              <a:r>
                <a:rPr lang="en-US" altLang="ko-KR" sz="2000" dirty="0" err="1">
                  <a:solidFill>
                    <a:schemeClr val="tx1"/>
                  </a:solidFill>
                  <a:latin typeface="프리젠테이션 7 Bold" pitchFamily="2" charset="-127"/>
                  <a:ea typeface="프리젠테이션 7 Bold" pitchFamily="2" charset="-127"/>
                </a:rPr>
                <a:t>NewsSignal</a:t>
              </a:r>
              <a:r>
                <a:rPr lang="en-US" altLang="ko-KR" sz="2000" dirty="0">
                  <a:solidFill>
                    <a:schemeClr val="tx1"/>
                  </a:solidFill>
                  <a:latin typeface="프리젠테이션 7 Bold" pitchFamily="2" charset="-127"/>
                  <a:ea typeface="프리젠테이션 7 Bold" pitchFamily="2" charset="-127"/>
                </a:rPr>
                <a:t> AI</a:t>
              </a: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772FB28-66C6-49D8-AC55-E739996908C7}"/>
              </a:ext>
            </a:extLst>
          </p:cNvPr>
          <p:cNvSpPr txBox="1"/>
          <p:nvPr/>
        </p:nvSpPr>
        <p:spPr>
          <a:xfrm>
            <a:off x="638175" y="4173449"/>
            <a:ext cx="594153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흩어진 뉴스를 빠르게 종목별 투자 인사이트로</a:t>
            </a:r>
            <a:r>
              <a:rPr lang="en-US" altLang="ko-KR" sz="2000" dirty="0">
                <a:latin typeface="프리젠테이션 7 Bold" pitchFamily="2" charset="-127"/>
                <a:ea typeface="프리젠테이션 7 Bold" pitchFamily="2" charset="-127"/>
              </a:rPr>
              <a:t>,</a:t>
            </a:r>
          </a:p>
          <a:p>
            <a:pPr algn="ctr"/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매일 쏟아지는 뉴스를 누구나 </a:t>
            </a:r>
            <a:r>
              <a:rPr lang="en-US" altLang="ko-KR" sz="2000" dirty="0">
                <a:latin typeface="프리젠테이션 7 Bold" pitchFamily="2" charset="-127"/>
                <a:ea typeface="프리젠테이션 7 Bold" pitchFamily="2" charset="-127"/>
              </a:rPr>
              <a:t>5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분 안에 투자 판단으로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0B8A253-D021-4530-BAA1-3CA2A18D95C8}"/>
              </a:ext>
            </a:extLst>
          </p:cNvPr>
          <p:cNvSpPr/>
          <p:nvPr/>
        </p:nvSpPr>
        <p:spPr>
          <a:xfrm>
            <a:off x="402695" y="5218203"/>
            <a:ext cx="2822716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수많은 뉴스를 직접 찾아 읽을 필요 없이 핵심만 요약 제공 </a:t>
            </a:r>
            <a:endParaRPr lang="en-US" altLang="ko-KR" sz="1200" dirty="0">
              <a:ln w="952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프리젠테이션 5 Medium" pitchFamily="2" charset="-127"/>
            </a:endParaRPr>
          </a:p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중복 기사 제거로 꼭 봐야 할 뉴스만 선별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FE2F212-05AA-4C2E-96F7-BF4BB3429AFC}"/>
              </a:ext>
            </a:extLst>
          </p:cNvPr>
          <p:cNvSpPr/>
          <p:nvPr/>
        </p:nvSpPr>
        <p:spPr>
          <a:xfrm>
            <a:off x="3993982" y="5218203"/>
            <a:ext cx="2822716" cy="11469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rIns="144000" rtlCol="0" anchor="ctr"/>
          <a:lstStyle/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종목별 호재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·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악재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·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영향도를 점수로 제시</a:t>
            </a:r>
            <a:endParaRPr lang="en-US" altLang="ko-KR" sz="1200" dirty="0">
              <a:ln w="9525"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a typeface="프리젠테이션 5 Medium" pitchFamily="2" charset="-127"/>
            </a:endParaRPr>
          </a:p>
          <a:p>
            <a:pPr marL="266700" indent="-1778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관련 종목</a:t>
            </a:r>
            <a:r>
              <a: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· </a:t>
            </a:r>
            <a:r>
              <a:rPr lang="ko-KR" altLang="en-US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rPr>
              <a:t>섹터 자동 연결로 별도 검색 없이 판단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D3D5A16-0890-49AC-988C-42D6D1AAE794}"/>
              </a:ext>
            </a:extLst>
          </p:cNvPr>
          <p:cNvGrpSpPr/>
          <p:nvPr/>
        </p:nvGrpSpPr>
        <p:grpSpPr>
          <a:xfrm>
            <a:off x="7259481" y="1575139"/>
            <a:ext cx="3760814" cy="1487892"/>
            <a:chOff x="7259481" y="1575139"/>
            <a:chExt cx="3760814" cy="1487892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A5918B05-5A26-4517-B6BF-90C8295E7F62}"/>
                </a:ext>
              </a:extLst>
            </p:cNvPr>
            <p:cNvSpPr/>
            <p:nvPr/>
          </p:nvSpPr>
          <p:spPr>
            <a:xfrm>
              <a:off x="7263260" y="1916086"/>
              <a:ext cx="3757035" cy="11469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72000" rIns="144000" rtlCol="0" anchor="ctr"/>
            <a:lstStyle/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뉴스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공시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정책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환율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금리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원자재 등 다양한 이슈가 종목 주가에 영향</a:t>
              </a:r>
              <a:endParaRPr lang="en-US" altLang="ko-KR" sz="1200" dirty="0">
                <a:ln w="9525"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프리젠테이션 5 Medium" pitchFamily="2" charset="-127"/>
              </a:endParaRP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개인이 매일 쏟아지는 뉴스를 직접 확인하고 종목과 연결해 분석하기엔 많은 시간이 소요</a:t>
              </a:r>
            </a:p>
          </p:txBody>
        </p:sp>
        <p:sp>
          <p:nvSpPr>
            <p:cNvPr id="85" name="사각형: 둥근 위쪽 모서리 84">
              <a:extLst>
                <a:ext uri="{FF2B5EF4-FFF2-40B4-BE49-F238E27FC236}">
                  <a16:creationId xmlns:a16="http://schemas.microsoft.com/office/drawing/2014/main" id="{54F674D8-1B88-418E-BDFC-AB6EF070DA6D}"/>
                </a:ext>
              </a:extLst>
            </p:cNvPr>
            <p:cNvSpPr/>
            <p:nvPr/>
          </p:nvSpPr>
          <p:spPr>
            <a:xfrm>
              <a:off x="7259481" y="1575139"/>
              <a:ext cx="3760056" cy="330713"/>
            </a:xfrm>
            <a:prstGeom prst="round2SameRect">
              <a:avLst/>
            </a:prstGeom>
            <a:solidFill>
              <a:srgbClr val="1E2761"/>
            </a:solidFill>
            <a:ln w="6350">
              <a:solidFill>
                <a:srgbClr val="000838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6231" latinLnBrk="1"/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수많은 뉴스</a:t>
              </a:r>
              <a:r>
                <a:rPr lang="en-US" altLang="ko-KR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개인 확인의 한계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E822558-45AC-49DF-ADB0-0EA9135E1883}"/>
              </a:ext>
            </a:extLst>
          </p:cNvPr>
          <p:cNvGrpSpPr/>
          <p:nvPr/>
        </p:nvGrpSpPr>
        <p:grpSpPr>
          <a:xfrm>
            <a:off x="7259481" y="3228934"/>
            <a:ext cx="3760057" cy="1484791"/>
            <a:chOff x="7259481" y="3152841"/>
            <a:chExt cx="3760057" cy="1484791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2987F5F-4669-4217-A899-94272853AA0C}"/>
                </a:ext>
              </a:extLst>
            </p:cNvPr>
            <p:cNvSpPr/>
            <p:nvPr/>
          </p:nvSpPr>
          <p:spPr>
            <a:xfrm>
              <a:off x="7262503" y="3490687"/>
              <a:ext cx="3757035" cy="11469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72000" rIns="144000" rtlCol="0" anchor="ctr"/>
            <a:lstStyle/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수집된 뉴스를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AI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가 실시간 분석하여 호재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악재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중립 및 영향도 점수를 제공</a:t>
              </a: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투자의 직관적 의사결정을 지원</a:t>
              </a:r>
            </a:p>
          </p:txBody>
        </p:sp>
        <p:sp>
          <p:nvSpPr>
            <p:cNvPr id="86" name="사각형: 둥근 위쪽 모서리 85">
              <a:extLst>
                <a:ext uri="{FF2B5EF4-FFF2-40B4-BE49-F238E27FC236}">
                  <a16:creationId xmlns:a16="http://schemas.microsoft.com/office/drawing/2014/main" id="{D1AD4545-FE83-4DBA-B366-E77D3E921FC7}"/>
                </a:ext>
              </a:extLst>
            </p:cNvPr>
            <p:cNvSpPr/>
            <p:nvPr/>
          </p:nvSpPr>
          <p:spPr>
            <a:xfrm>
              <a:off x="7259481" y="3152841"/>
              <a:ext cx="3760056" cy="330713"/>
            </a:xfrm>
            <a:prstGeom prst="round2SameRect">
              <a:avLst/>
            </a:prstGeom>
            <a:solidFill>
              <a:srgbClr val="1E2761"/>
            </a:solidFill>
            <a:ln w="6350">
              <a:solidFill>
                <a:srgbClr val="000838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6231" latinLnBrk="1"/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직관적 투자 시그널 제공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FBAC076-AD49-48C7-9E0F-4A8A7242C673}"/>
              </a:ext>
            </a:extLst>
          </p:cNvPr>
          <p:cNvGrpSpPr/>
          <p:nvPr/>
        </p:nvGrpSpPr>
        <p:grpSpPr>
          <a:xfrm>
            <a:off x="7259481" y="4879628"/>
            <a:ext cx="3760057" cy="1485518"/>
            <a:chOff x="7259481" y="4839872"/>
            <a:chExt cx="3760057" cy="1485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6739339-287B-4690-957B-504EBA51D670}"/>
                </a:ext>
              </a:extLst>
            </p:cNvPr>
            <p:cNvSpPr/>
            <p:nvPr/>
          </p:nvSpPr>
          <p:spPr>
            <a:xfrm>
              <a:off x="7262503" y="5178445"/>
              <a:ext cx="3757035" cy="11469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72000" rIns="144000" rtlCol="0" anchor="ctr"/>
            <a:lstStyle/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뉴스 수집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중복 제거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요약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감성 분석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·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시장 영향도 판단을 자동화</a:t>
              </a:r>
            </a:p>
            <a:p>
              <a:pPr marL="266700" indent="-1778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관련 종목 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KIS(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한국투자증권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), DART(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금융감독원 전자공시시스템</a:t>
              </a:r>
              <a:r>
                <a:rPr lang="en-US" altLang="ko-KR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) API </a:t>
              </a:r>
              <a:r>
                <a:rPr lang="ko-KR" altLang="en-US" sz="1200" dirty="0">
                  <a:ln w="9525"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프리젠테이션 5 Medium" pitchFamily="2" charset="-127"/>
                </a:rPr>
                <a:t>연계 매핑까지 자동 처리하여 시장 모니터링 효율 향상</a:t>
              </a:r>
            </a:p>
          </p:txBody>
        </p:sp>
        <p:sp>
          <p:nvSpPr>
            <p:cNvPr id="87" name="사각형: 둥근 위쪽 모서리 86">
              <a:extLst>
                <a:ext uri="{FF2B5EF4-FFF2-40B4-BE49-F238E27FC236}">
                  <a16:creationId xmlns:a16="http://schemas.microsoft.com/office/drawing/2014/main" id="{E87978DE-8653-470E-B4DC-51F9CFE18C23}"/>
                </a:ext>
              </a:extLst>
            </p:cNvPr>
            <p:cNvSpPr/>
            <p:nvPr/>
          </p:nvSpPr>
          <p:spPr>
            <a:xfrm>
              <a:off x="7259481" y="4839872"/>
              <a:ext cx="3760056" cy="330713"/>
            </a:xfrm>
            <a:prstGeom prst="round2SameRect">
              <a:avLst/>
            </a:prstGeom>
            <a:solidFill>
              <a:srgbClr val="1E2761"/>
            </a:solidFill>
            <a:ln w="6350">
              <a:solidFill>
                <a:srgbClr val="000838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06231" latinLnBrk="1"/>
              <a:r>
                <a:rPr lang="ko-KR" altLang="en-US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프리젠테이션 6 SemiBold" pitchFamily="2" charset="-127"/>
                  <a:ea typeface="프리젠테이션 6 SemiBold" pitchFamily="2" charset="-127"/>
                </a:rPr>
                <a:t>반복 모니터링 업무 자동화</a:t>
              </a:r>
            </a:p>
          </p:txBody>
        </p:sp>
      </p:grpSp>
      <p:sp>
        <p:nvSpPr>
          <p:cNvPr id="88" name="사각형: 둥근 위쪽 모서리 87">
            <a:extLst>
              <a:ext uri="{FF2B5EF4-FFF2-40B4-BE49-F238E27FC236}">
                <a16:creationId xmlns:a16="http://schemas.microsoft.com/office/drawing/2014/main" id="{83C67B79-DEEE-4053-93E8-91F9BDB71C69}"/>
              </a:ext>
            </a:extLst>
          </p:cNvPr>
          <p:cNvSpPr/>
          <p:nvPr/>
        </p:nvSpPr>
        <p:spPr>
          <a:xfrm>
            <a:off x="3993982" y="4879629"/>
            <a:ext cx="282271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즉각적인 판단 근거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9" name="사각형: 둥근 위쪽 모서리 88">
            <a:extLst>
              <a:ext uri="{FF2B5EF4-FFF2-40B4-BE49-F238E27FC236}">
                <a16:creationId xmlns:a16="http://schemas.microsoft.com/office/drawing/2014/main" id="{AC9C5BA6-8419-4FA4-A378-250EB36ECEE9}"/>
              </a:ext>
            </a:extLst>
          </p:cNvPr>
          <p:cNvSpPr/>
          <p:nvPr/>
        </p:nvSpPr>
        <p:spPr>
          <a:xfrm>
            <a:off x="401181" y="4879630"/>
            <a:ext cx="2822716" cy="330713"/>
          </a:xfrm>
          <a:prstGeom prst="round2SameRect">
            <a:avLst/>
          </a:prstGeom>
          <a:solidFill>
            <a:srgbClr val="000838"/>
          </a:solidFill>
          <a:ln w="6350">
            <a:solidFill>
              <a:srgbClr val="000838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6231" latinLnBrk="1"/>
            <a:r>
              <a:rPr lang="ko-KR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프리젠테이션 6 SemiBold" pitchFamily="2" charset="-127"/>
                <a:ea typeface="프리젠테이션 6 SemiBold" pitchFamily="2" charset="-127"/>
              </a:rPr>
              <a:t>정보 탐색 시간 단축</a:t>
            </a:r>
            <a:endParaRPr lang="en-US" altLang="ko-K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1.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프로젝트 개요</a:t>
            </a:r>
          </a:p>
        </p:txBody>
      </p:sp>
    </p:spTree>
    <p:extLst>
      <p:ext uri="{BB962C8B-B14F-4D97-AF65-F5344CB8AC3E}">
        <p14:creationId xmlns:p14="http://schemas.microsoft.com/office/powerpoint/2010/main" val="211934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2098D2E-7ED0-4D8B-BB04-AD62E8A18C07}"/>
              </a:ext>
            </a:extLst>
          </p:cNvPr>
          <p:cNvSpPr txBox="1"/>
          <p:nvPr/>
        </p:nvSpPr>
        <p:spPr>
          <a:xfrm>
            <a:off x="243200" y="130833"/>
            <a:ext cx="5456091" cy="487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defTabSz="457200" latinLnBrk="0">
              <a:defRPr sz="2000" spc="0">
                <a:solidFill>
                  <a:prstClr val="white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defRPr>
            </a:lvl1pPr>
          </a:lstStyle>
          <a:p>
            <a:pPr defTabSz="914400" latinLnBrk="1">
              <a:lnSpc>
                <a:spcPct val="120000"/>
              </a:lnSpc>
              <a:defRPr/>
            </a:pP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8.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향후계획 </a:t>
            </a:r>
            <a:r>
              <a:rPr lang="en-US" altLang="ko-KR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– </a:t>
            </a:r>
            <a:r>
              <a:rPr lang="ko-KR" altLang="en-US" sz="2300" dirty="0">
                <a:solidFill>
                  <a:schemeClr val="tx1"/>
                </a:solidFill>
                <a:latin typeface="페이퍼로지 8 ExtraBold" pitchFamily="2" charset="-127"/>
                <a:ea typeface="페이퍼로지 8 ExtraBold" pitchFamily="2" charset="-127"/>
                <a:cs typeface="KoPubWorld돋움체_Pro Bold" panose="00000800000000000000" pitchFamily="50" charset="-127"/>
              </a:rPr>
              <a:t>기대 효과 및 향후 발전 방향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D81E937-D8FB-42F5-8584-36CB7DFBAFE4}"/>
              </a:ext>
            </a:extLst>
          </p:cNvPr>
          <p:cNvGrpSpPr/>
          <p:nvPr/>
        </p:nvGrpSpPr>
        <p:grpSpPr>
          <a:xfrm>
            <a:off x="5817809" y="880760"/>
            <a:ext cx="5090299" cy="435600"/>
            <a:chOff x="603674" y="2667152"/>
            <a:chExt cx="4627545" cy="396000"/>
          </a:xfrm>
          <a:solidFill>
            <a:schemeClr val="tx1"/>
          </a:solidFill>
          <a:effectLst/>
        </p:grpSpPr>
        <p:sp>
          <p:nvSpPr>
            <p:cNvPr id="59" name="사각형: 둥근 위쪽 모서리 201">
              <a:extLst>
                <a:ext uri="{FF2B5EF4-FFF2-40B4-BE49-F238E27FC236}">
                  <a16:creationId xmlns:a16="http://schemas.microsoft.com/office/drawing/2014/main" id="{618AEE5E-9080-49C0-87B4-2E90338F5DC2}"/>
                </a:ext>
              </a:extLst>
            </p:cNvPr>
            <p:cNvSpPr/>
            <p:nvPr/>
          </p:nvSpPr>
          <p:spPr>
            <a:xfrm>
              <a:off x="603674" y="2667152"/>
              <a:ext cx="4627545" cy="396000"/>
            </a:xfrm>
            <a:prstGeom prst="rect">
              <a:avLst/>
            </a:prstGeom>
            <a:grpFill/>
            <a:ln w="6350">
              <a:noFill/>
            </a:ln>
            <a:effectLst>
              <a:outerShdw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500" spc="-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0" name="사각형: 둥근 위쪽 모서리 201">
              <a:extLst>
                <a:ext uri="{FF2B5EF4-FFF2-40B4-BE49-F238E27FC236}">
                  <a16:creationId xmlns:a16="http://schemas.microsoft.com/office/drawing/2014/main" id="{A8813801-0B3E-452D-B839-DE97552A4798}"/>
                </a:ext>
              </a:extLst>
            </p:cNvPr>
            <p:cNvSpPr/>
            <p:nvPr/>
          </p:nvSpPr>
          <p:spPr>
            <a:xfrm>
              <a:off x="1956384" y="2753234"/>
              <a:ext cx="1922147" cy="22383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ko-KR" altLang="en-US" sz="16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향후 발전 방향 및 보완 사항</a:t>
              </a:r>
            </a:p>
          </p:txBody>
        </p:sp>
      </p:grpSp>
      <p:sp>
        <p:nvSpPr>
          <p:cNvPr id="61" name="직각 삼각형 60">
            <a:extLst>
              <a:ext uri="{FF2B5EF4-FFF2-40B4-BE49-F238E27FC236}">
                <a16:creationId xmlns:a16="http://schemas.microsoft.com/office/drawing/2014/main" id="{6FA30C48-25EE-473B-9D52-32CA909B99BE}"/>
              </a:ext>
            </a:extLst>
          </p:cNvPr>
          <p:cNvSpPr/>
          <p:nvPr/>
        </p:nvSpPr>
        <p:spPr>
          <a:xfrm rot="5400000">
            <a:off x="612360" y="798136"/>
            <a:ext cx="297029" cy="456436"/>
          </a:xfrm>
          <a:prstGeom prst="rtTriangle">
            <a:avLst/>
          </a:prstGeom>
          <a:solidFill>
            <a:srgbClr val="FFFFFF">
              <a:alpha val="14902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95000"/>
                  <a:lumOff val="5000"/>
                </a:schemeClr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88F7C4-6F1E-4DDB-B2E3-AE1FFC15DD00}"/>
              </a:ext>
            </a:extLst>
          </p:cNvPr>
          <p:cNvGrpSpPr/>
          <p:nvPr/>
        </p:nvGrpSpPr>
        <p:grpSpPr>
          <a:xfrm>
            <a:off x="575096" y="877840"/>
            <a:ext cx="5090299" cy="435600"/>
            <a:chOff x="603674" y="2667152"/>
            <a:chExt cx="4627545" cy="396000"/>
          </a:xfrm>
          <a:effectLst/>
        </p:grpSpPr>
        <p:sp>
          <p:nvSpPr>
            <p:cNvPr id="63" name="사각형: 둥근 위쪽 모서리 201">
              <a:extLst>
                <a:ext uri="{FF2B5EF4-FFF2-40B4-BE49-F238E27FC236}">
                  <a16:creationId xmlns:a16="http://schemas.microsoft.com/office/drawing/2014/main" id="{A0A5800F-FD04-4DFB-8643-3D2C6A0EFE41}"/>
                </a:ext>
              </a:extLst>
            </p:cNvPr>
            <p:cNvSpPr/>
            <p:nvPr/>
          </p:nvSpPr>
          <p:spPr>
            <a:xfrm>
              <a:off x="603674" y="2667152"/>
              <a:ext cx="4627545" cy="396000"/>
            </a:xfrm>
            <a:prstGeom prst="rect">
              <a:avLst/>
            </a:prstGeom>
            <a:solidFill>
              <a:srgbClr val="003763"/>
            </a:solidFill>
            <a:ln w="6350">
              <a:noFill/>
            </a:ln>
            <a:effectLst>
              <a:outerShdw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500" spc="-50" dirty="0">
                <a:ln>
                  <a:solidFill>
                    <a:schemeClr val="tx1">
                      <a:lumMod val="95000"/>
                      <a:lumOff val="5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4" name="사각형: 둥근 위쪽 모서리 201">
              <a:extLst>
                <a:ext uri="{FF2B5EF4-FFF2-40B4-BE49-F238E27FC236}">
                  <a16:creationId xmlns:a16="http://schemas.microsoft.com/office/drawing/2014/main" id="{0C36EF4C-8EC3-4E70-B178-895B8AD0A1A7}"/>
                </a:ext>
              </a:extLst>
            </p:cNvPr>
            <p:cNvSpPr/>
            <p:nvPr/>
          </p:nvSpPr>
          <p:spPr>
            <a:xfrm>
              <a:off x="2599766" y="2753234"/>
              <a:ext cx="635373" cy="22383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ko-KR" altLang="en-US" sz="1600" spc="-50" dirty="0">
                  <a:ln>
                    <a:solidFill>
                      <a:schemeClr val="tx1">
                        <a:lumMod val="95000"/>
                        <a:lumOff val="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기대효과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A487A35-3274-4A79-BFFB-2D4653A4F2B6}"/>
              </a:ext>
            </a:extLst>
          </p:cNvPr>
          <p:cNvGrpSpPr/>
          <p:nvPr/>
        </p:nvGrpSpPr>
        <p:grpSpPr>
          <a:xfrm>
            <a:off x="659673" y="1615325"/>
            <a:ext cx="5005722" cy="740305"/>
            <a:chOff x="659673" y="1960765"/>
            <a:chExt cx="5005722" cy="740305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9AAA714-87FE-4087-B034-EB09CD2C2708}"/>
                </a:ext>
              </a:extLst>
            </p:cNvPr>
            <p:cNvSpPr/>
            <p:nvPr/>
          </p:nvSpPr>
          <p:spPr>
            <a:xfrm>
              <a:off x="1377642" y="2331738"/>
              <a:ext cx="4287753" cy="36933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반복적인 뉴스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시황 확인 시간 절감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호재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악재 자동 분류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요약으로 핵심만 빠르게 파악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C13A9E2B-C035-406B-8AE3-85F7D5A6E10B}"/>
                </a:ext>
              </a:extLst>
            </p:cNvPr>
            <p:cNvGrpSpPr/>
            <p:nvPr/>
          </p:nvGrpSpPr>
          <p:grpSpPr>
            <a:xfrm>
              <a:off x="659673" y="1960765"/>
              <a:ext cx="506004" cy="506004"/>
              <a:chOff x="-1254221" y="4016979"/>
              <a:chExt cx="1380084" cy="1380084"/>
            </a:xfrm>
          </p:grpSpPr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740D1318-7603-4D6F-A348-551C15DB9035}"/>
                  </a:ext>
                </a:extLst>
              </p:cNvPr>
              <p:cNvSpPr/>
              <p:nvPr/>
            </p:nvSpPr>
            <p:spPr>
              <a:xfrm>
                <a:off x="-1254221" y="4016979"/>
                <a:ext cx="1380084" cy="13800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</a:t>
                </a:r>
                <a:endParaRPr lang="ko-KR" altLang="en-US" dirty="0"/>
              </a:p>
            </p:txBody>
          </p: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94BB3BE7-34C3-419A-B863-F15DC002C14C}"/>
                  </a:ext>
                </a:extLst>
              </p:cNvPr>
              <p:cNvGrpSpPr/>
              <p:nvPr/>
            </p:nvGrpSpPr>
            <p:grpSpPr>
              <a:xfrm>
                <a:off x="-1194180" y="4077021"/>
                <a:ext cx="1259999" cy="1260000"/>
                <a:chOff x="-1053183" y="3974618"/>
                <a:chExt cx="1259999" cy="1260000"/>
              </a:xfrm>
            </p:grpSpPr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B9EEC57E-B939-411F-B259-4E02B4C66D42}"/>
                    </a:ext>
                  </a:extLst>
                </p:cNvPr>
                <p:cNvSpPr/>
                <p:nvPr/>
              </p:nvSpPr>
              <p:spPr>
                <a:xfrm>
                  <a:off x="-1053183" y="3974618"/>
                  <a:ext cx="1259999" cy="1260000"/>
                </a:xfrm>
                <a:prstGeom prst="ellipse">
                  <a:avLst/>
                </a:prstGeom>
                <a:solidFill>
                  <a:srgbClr val="0070C0"/>
                </a:solidFill>
                <a:ln w="6350">
                  <a:noFill/>
                </a:ln>
                <a:effectLst>
                  <a:outerShdw dist="38100" dir="5400000" algn="t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/>
                  <a:endParaRPr lang="ko-KR" altLang="en-US" dirty="0"/>
                </a:p>
              </p:txBody>
            </p:sp>
            <p:sp>
              <p:nvSpPr>
                <p:cNvPr id="70" name="현 69">
                  <a:extLst>
                    <a:ext uri="{FF2B5EF4-FFF2-40B4-BE49-F238E27FC236}">
                      <a16:creationId xmlns:a16="http://schemas.microsoft.com/office/drawing/2014/main" id="{4212239A-D9A4-4991-BC04-2A0CFC0ACD50}"/>
                    </a:ext>
                  </a:extLst>
                </p:cNvPr>
                <p:cNvSpPr/>
                <p:nvPr/>
              </p:nvSpPr>
              <p:spPr>
                <a:xfrm>
                  <a:off x="-1006053" y="4021747"/>
                  <a:ext cx="1165743" cy="1165743"/>
                </a:xfrm>
                <a:prstGeom prst="chord">
                  <a:avLst>
                    <a:gd name="adj1" fmla="val 7519765"/>
                    <a:gd name="adj2" fmla="val 18832864"/>
                  </a:avLst>
                </a:prstGeom>
                <a:gradFill>
                  <a:gsLst>
                    <a:gs pos="0">
                      <a:schemeClr val="bg1">
                        <a:alpha val="2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페이퍼로지 6 SemiBold" pitchFamily="2" charset="-127"/>
                    <a:ea typeface="페이퍼로지 6 SemiBold" pitchFamily="2" charset="-127"/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9ABD6745-B3CA-4E21-BF27-2F56BC5816C9}"/>
                    </a:ext>
                  </a:extLst>
                </p:cNvPr>
                <p:cNvSpPr/>
                <p:nvPr/>
              </p:nvSpPr>
              <p:spPr>
                <a:xfrm>
                  <a:off x="-898815" y="4096760"/>
                  <a:ext cx="951272" cy="1015715"/>
                </a:xfrm>
                <a:prstGeom prst="rect">
                  <a:avLst/>
                </a:prstGeom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ko-KR" sz="16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1</a:t>
                  </a:r>
                  <a:endParaRPr lang="ko-KR" altLang="en-US" sz="1600" spc="-3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99D278D-ACF1-4C8D-95E5-4D03A6687BCB}"/>
                </a:ext>
              </a:extLst>
            </p:cNvPr>
            <p:cNvSpPr/>
            <p:nvPr/>
          </p:nvSpPr>
          <p:spPr>
            <a:xfrm>
              <a:off x="1373104" y="1974425"/>
              <a:ext cx="2422138" cy="2154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ko-KR" altLang="en-US" sz="14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분석 시간 절감으로 시간 효율 향상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355A9819-8CDC-4AD9-B3F2-9DBD339948A6}"/>
                </a:ext>
              </a:extLst>
            </p:cNvPr>
            <p:cNvCxnSpPr>
              <a:cxnSpLocks/>
            </p:cNvCxnSpPr>
            <p:nvPr/>
          </p:nvCxnSpPr>
          <p:spPr>
            <a:xfrm>
              <a:off x="1257143" y="2226390"/>
              <a:ext cx="3159892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  <a:alpha val="50000"/>
                </a:schemeClr>
              </a:solidFill>
              <a:prstDash val="solid"/>
              <a:round/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8D0EAEAE-1128-45A0-A10B-30876F8491FA}"/>
              </a:ext>
            </a:extLst>
          </p:cNvPr>
          <p:cNvGrpSpPr/>
          <p:nvPr/>
        </p:nvGrpSpPr>
        <p:grpSpPr>
          <a:xfrm>
            <a:off x="659673" y="3143134"/>
            <a:ext cx="5132740" cy="555639"/>
            <a:chOff x="659673" y="3088788"/>
            <a:chExt cx="5132740" cy="555639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9EF48A4-C774-47E7-8944-4F54E3C6CBF9}"/>
                </a:ext>
              </a:extLst>
            </p:cNvPr>
            <p:cNvGrpSpPr/>
            <p:nvPr/>
          </p:nvGrpSpPr>
          <p:grpSpPr>
            <a:xfrm>
              <a:off x="659673" y="3088788"/>
              <a:ext cx="506004" cy="506004"/>
              <a:chOff x="-1254221" y="4016979"/>
              <a:chExt cx="1380084" cy="1380084"/>
            </a:xfrm>
          </p:grpSpPr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2334C554-E7A8-42D1-83F1-7472B4ABC376}"/>
                  </a:ext>
                </a:extLst>
              </p:cNvPr>
              <p:cNvSpPr/>
              <p:nvPr/>
            </p:nvSpPr>
            <p:spPr>
              <a:xfrm>
                <a:off x="-1254221" y="4016979"/>
                <a:ext cx="1380084" cy="13800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</a:t>
                </a:r>
                <a:endParaRPr lang="ko-KR" altLang="en-US" dirty="0"/>
              </a:p>
            </p:txBody>
          </p: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53B66FAD-481E-455E-8E38-011E6C7B1C88}"/>
                  </a:ext>
                </a:extLst>
              </p:cNvPr>
              <p:cNvGrpSpPr/>
              <p:nvPr/>
            </p:nvGrpSpPr>
            <p:grpSpPr>
              <a:xfrm>
                <a:off x="-1194180" y="4077021"/>
                <a:ext cx="1259999" cy="1260000"/>
                <a:chOff x="-1053183" y="3974618"/>
                <a:chExt cx="1259999" cy="1260000"/>
              </a:xfrm>
            </p:grpSpPr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AE0DB897-4DA9-489B-B22E-866436E75FAE}"/>
                    </a:ext>
                  </a:extLst>
                </p:cNvPr>
                <p:cNvSpPr/>
                <p:nvPr/>
              </p:nvSpPr>
              <p:spPr>
                <a:xfrm>
                  <a:off x="-1053183" y="3974618"/>
                  <a:ext cx="1259999" cy="1260000"/>
                </a:xfrm>
                <a:prstGeom prst="ellipse">
                  <a:avLst/>
                </a:prstGeom>
                <a:solidFill>
                  <a:srgbClr val="0070C0"/>
                </a:solidFill>
                <a:ln w="6350">
                  <a:noFill/>
                </a:ln>
                <a:effectLst>
                  <a:outerShdw dist="38100" dir="5400000" algn="t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/>
                  <a:endParaRPr lang="ko-KR" altLang="en-US" dirty="0"/>
                </a:p>
              </p:txBody>
            </p:sp>
            <p:sp>
              <p:nvSpPr>
                <p:cNvPr id="80" name="현 79">
                  <a:extLst>
                    <a:ext uri="{FF2B5EF4-FFF2-40B4-BE49-F238E27FC236}">
                      <a16:creationId xmlns:a16="http://schemas.microsoft.com/office/drawing/2014/main" id="{36612F02-04AD-4159-8076-D9F2E6E55206}"/>
                    </a:ext>
                  </a:extLst>
                </p:cNvPr>
                <p:cNvSpPr/>
                <p:nvPr/>
              </p:nvSpPr>
              <p:spPr>
                <a:xfrm>
                  <a:off x="-1006053" y="4021747"/>
                  <a:ext cx="1165743" cy="1165743"/>
                </a:xfrm>
                <a:prstGeom prst="chord">
                  <a:avLst>
                    <a:gd name="adj1" fmla="val 7519765"/>
                    <a:gd name="adj2" fmla="val 18832864"/>
                  </a:avLst>
                </a:prstGeom>
                <a:gradFill>
                  <a:gsLst>
                    <a:gs pos="0">
                      <a:schemeClr val="bg1">
                        <a:alpha val="2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페이퍼로지 6 SemiBold" pitchFamily="2" charset="-127"/>
                    <a:ea typeface="페이퍼로지 6 SemiBold" pitchFamily="2" charset="-127"/>
                  </a:endParaRPr>
                </a:p>
              </p:txBody>
            </p:sp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EA9F12A5-52C6-4536-9A73-DCD62F86D370}"/>
                    </a:ext>
                  </a:extLst>
                </p:cNvPr>
                <p:cNvSpPr/>
                <p:nvPr/>
              </p:nvSpPr>
              <p:spPr>
                <a:xfrm>
                  <a:off x="-898816" y="4096760"/>
                  <a:ext cx="951271" cy="1015715"/>
                </a:xfrm>
                <a:prstGeom prst="rect">
                  <a:avLst/>
                </a:prstGeom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ko-KR" sz="16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2</a:t>
                  </a:r>
                  <a:endParaRPr lang="ko-KR" altLang="en-US" sz="1600" spc="-3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1A973141-1DDC-4745-BAAE-CE7FE807A6FC}"/>
                </a:ext>
              </a:extLst>
            </p:cNvPr>
            <p:cNvSpPr/>
            <p:nvPr/>
          </p:nvSpPr>
          <p:spPr>
            <a:xfrm>
              <a:off x="1332649" y="3459761"/>
              <a:ext cx="4459764" cy="184666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재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악재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영향도 점수와 섹터 시그널로 판단 근거 제공</a:t>
              </a: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0846EB2D-CC2F-4E38-8CB0-2A12190B0FB5}"/>
                </a:ext>
              </a:extLst>
            </p:cNvPr>
            <p:cNvSpPr/>
            <p:nvPr/>
          </p:nvSpPr>
          <p:spPr>
            <a:xfrm>
              <a:off x="1329805" y="3102442"/>
              <a:ext cx="1349728" cy="2154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ko-KR" altLang="en-US" sz="14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투자 의사결정 지원</a:t>
              </a: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B778BB6C-759A-44EF-99FF-80E986C23694}"/>
                </a:ext>
              </a:extLst>
            </p:cNvPr>
            <p:cNvCxnSpPr>
              <a:cxnSpLocks/>
            </p:cNvCxnSpPr>
            <p:nvPr/>
          </p:nvCxnSpPr>
          <p:spPr>
            <a:xfrm>
              <a:off x="1257143" y="3354411"/>
              <a:ext cx="1980000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  <a:alpha val="50000"/>
                </a:schemeClr>
              </a:solidFill>
              <a:prstDash val="solid"/>
              <a:round/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E8E007C1-C3E9-42F8-B9DD-A6D23F8E6CC3}"/>
              </a:ext>
            </a:extLst>
          </p:cNvPr>
          <p:cNvGrpSpPr/>
          <p:nvPr/>
        </p:nvGrpSpPr>
        <p:grpSpPr>
          <a:xfrm>
            <a:off x="667546" y="4486276"/>
            <a:ext cx="5124866" cy="740305"/>
            <a:chOff x="667546" y="4222116"/>
            <a:chExt cx="5124866" cy="740305"/>
          </a:xfrm>
        </p:grpSpPr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063B95D3-5596-427A-AED4-4827A729B7F0}"/>
                </a:ext>
              </a:extLst>
            </p:cNvPr>
            <p:cNvGrpSpPr/>
            <p:nvPr/>
          </p:nvGrpSpPr>
          <p:grpSpPr>
            <a:xfrm>
              <a:off x="667546" y="4222116"/>
              <a:ext cx="506004" cy="506004"/>
              <a:chOff x="-1254221" y="4016979"/>
              <a:chExt cx="1380084" cy="1380084"/>
            </a:xfrm>
          </p:grpSpPr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F5555E65-E376-4613-A128-95EA90E0B87E}"/>
                  </a:ext>
                </a:extLst>
              </p:cNvPr>
              <p:cNvSpPr/>
              <p:nvPr/>
            </p:nvSpPr>
            <p:spPr>
              <a:xfrm>
                <a:off x="-1254221" y="4016979"/>
                <a:ext cx="1380084" cy="13800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1</a:t>
                </a:r>
                <a:endParaRPr lang="ko-KR" altLang="en-US" dirty="0"/>
              </a:p>
            </p:txBody>
          </p: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9A084272-629A-4985-90F9-0749410FBC3A}"/>
                  </a:ext>
                </a:extLst>
              </p:cNvPr>
              <p:cNvGrpSpPr/>
              <p:nvPr/>
            </p:nvGrpSpPr>
            <p:grpSpPr>
              <a:xfrm>
                <a:off x="-1194180" y="4077021"/>
                <a:ext cx="1259999" cy="1260000"/>
                <a:chOff x="-1053183" y="3974618"/>
                <a:chExt cx="1259999" cy="1260000"/>
              </a:xfrm>
            </p:grpSpPr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BE89C94C-BBC9-4214-B14C-A52003D297FF}"/>
                    </a:ext>
                  </a:extLst>
                </p:cNvPr>
                <p:cNvSpPr/>
                <p:nvPr/>
              </p:nvSpPr>
              <p:spPr>
                <a:xfrm>
                  <a:off x="-1053183" y="3974618"/>
                  <a:ext cx="1259999" cy="1260000"/>
                </a:xfrm>
                <a:prstGeom prst="ellipse">
                  <a:avLst/>
                </a:prstGeom>
                <a:solidFill>
                  <a:srgbClr val="0070C0"/>
                </a:solidFill>
                <a:ln w="6350">
                  <a:noFill/>
                </a:ln>
                <a:effectLst>
                  <a:outerShdw dist="38100" dir="5400000" algn="t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/>
                  <a:endParaRPr lang="ko-KR" altLang="en-US" dirty="0"/>
                </a:p>
              </p:txBody>
            </p:sp>
            <p:sp>
              <p:nvSpPr>
                <p:cNvPr id="89" name="현 88">
                  <a:extLst>
                    <a:ext uri="{FF2B5EF4-FFF2-40B4-BE49-F238E27FC236}">
                      <a16:creationId xmlns:a16="http://schemas.microsoft.com/office/drawing/2014/main" id="{FFA797E5-B459-470A-BC2C-60BD7760F964}"/>
                    </a:ext>
                  </a:extLst>
                </p:cNvPr>
                <p:cNvSpPr/>
                <p:nvPr/>
              </p:nvSpPr>
              <p:spPr>
                <a:xfrm>
                  <a:off x="-1006053" y="4021747"/>
                  <a:ext cx="1165743" cy="1165743"/>
                </a:xfrm>
                <a:prstGeom prst="chord">
                  <a:avLst>
                    <a:gd name="adj1" fmla="val 7519765"/>
                    <a:gd name="adj2" fmla="val 18832864"/>
                  </a:avLst>
                </a:prstGeom>
                <a:gradFill>
                  <a:gsLst>
                    <a:gs pos="0">
                      <a:schemeClr val="bg1">
                        <a:alpha val="20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0"/>
                </a:gra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페이퍼로지 6 SemiBold" pitchFamily="2" charset="-127"/>
                    <a:ea typeface="페이퍼로지 6 SemiBold" pitchFamily="2" charset="-127"/>
                  </a:endParaRPr>
                </a:p>
              </p:txBody>
            </p:sp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5CFBE5D5-79F4-4B9A-AD0D-8F3424C6FED6}"/>
                    </a:ext>
                  </a:extLst>
                </p:cNvPr>
                <p:cNvSpPr/>
                <p:nvPr/>
              </p:nvSpPr>
              <p:spPr>
                <a:xfrm>
                  <a:off x="-898816" y="4096760"/>
                  <a:ext cx="951271" cy="1015715"/>
                </a:xfrm>
                <a:prstGeom prst="rect">
                  <a:avLst/>
                </a:prstGeom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ko-KR" sz="1600" spc="-30" dirty="0">
                      <a:ln>
                        <a:solidFill>
                          <a:schemeClr val="tx1">
                            <a:lumMod val="95000"/>
                            <a:lumOff val="5000"/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페이퍼로지 7 Bold" pitchFamily="2" charset="-127"/>
                      <a:ea typeface="페이퍼로지 7 Bold" pitchFamily="2" charset="-127"/>
                    </a:rPr>
                    <a:t>3</a:t>
                  </a:r>
                  <a:endParaRPr lang="ko-KR" altLang="en-US" sz="1600" spc="-30" dirty="0">
                    <a:ln>
                      <a:solidFill>
                        <a:schemeClr val="tx1">
                          <a:lumMod val="95000"/>
                          <a:lumOff val="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페이퍼로지 7 Bold" pitchFamily="2" charset="-127"/>
                    <a:ea typeface="페이퍼로지 7 Bold" pitchFamily="2" charset="-127"/>
                  </a:endParaRPr>
                </a:p>
              </p:txBody>
            </p:sp>
          </p:grp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EF54068-809A-4A4A-9372-6F55CF885F7C}"/>
                </a:ext>
              </a:extLst>
            </p:cNvPr>
            <p:cNvSpPr/>
            <p:nvPr/>
          </p:nvSpPr>
          <p:spPr>
            <a:xfrm>
              <a:off x="1340521" y="4593089"/>
              <a:ext cx="4451891" cy="36933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LLM 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비정형 분석 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+ 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실시간 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API(KIS·DART) 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연동</a:t>
              </a:r>
              <a:r>
                <a:rPr lang="en-US" altLang="ko-KR" sz="1200" dirty="0"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파이프라인 </a:t>
              </a:r>
              <a:endParaRPr lang="en-US" altLang="ko-KR" sz="1200" dirty="0">
                <a:latin typeface="페이퍼로지 7 Bold" pitchFamily="2" charset="-127"/>
                <a:ea typeface="페이퍼로지 7 Bold" pitchFamily="2" charset="-127"/>
              </a:endParaRPr>
            </a:p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ko-KR" altLang="en-US" sz="1200" dirty="0">
                  <a:latin typeface="페이퍼로지 7 Bold" pitchFamily="2" charset="-127"/>
                  <a:ea typeface="페이퍼로지 7 Bold" pitchFamily="2" charset="-127"/>
                </a:rPr>
                <a:t>설계 경험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C11BFED4-CAF2-4B9D-BA0F-6A5C6F6D2D75}"/>
                </a:ext>
              </a:extLst>
            </p:cNvPr>
            <p:cNvSpPr/>
            <p:nvPr/>
          </p:nvSpPr>
          <p:spPr>
            <a:xfrm>
              <a:off x="1337678" y="4235770"/>
              <a:ext cx="1548501" cy="21544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ko-KR" altLang="en-US" sz="14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분석 역량 강화</a:t>
              </a:r>
            </a:p>
          </p:txBody>
        </p: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1CC2BAAD-0758-4B70-B78C-976C7C550D97}"/>
                </a:ext>
              </a:extLst>
            </p:cNvPr>
            <p:cNvCxnSpPr>
              <a:cxnSpLocks/>
            </p:cNvCxnSpPr>
            <p:nvPr/>
          </p:nvCxnSpPr>
          <p:spPr>
            <a:xfrm>
              <a:off x="1265016" y="4487738"/>
              <a:ext cx="1980000" cy="0"/>
            </a:xfrm>
            <a:prstGeom prst="line">
              <a:avLst/>
            </a:prstGeom>
            <a:ln w="9525" cap="rnd">
              <a:solidFill>
                <a:schemeClr val="bg1">
                  <a:lumMod val="85000"/>
                  <a:alpha val="50000"/>
                </a:schemeClr>
              </a:solidFill>
              <a:prstDash val="solid"/>
              <a:round/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19EB2372-484B-413A-A664-1B4FED365168}"/>
              </a:ext>
            </a:extLst>
          </p:cNvPr>
          <p:cNvGrpSpPr/>
          <p:nvPr/>
        </p:nvGrpSpPr>
        <p:grpSpPr>
          <a:xfrm>
            <a:off x="5817809" y="2756123"/>
            <a:ext cx="5090299" cy="1127833"/>
            <a:chOff x="5817809" y="2694598"/>
            <a:chExt cx="5090299" cy="1127833"/>
          </a:xfrm>
        </p:grpSpPr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A22F543-22CF-444D-828A-E4B925AB916E}"/>
                </a:ext>
              </a:extLst>
            </p:cNvPr>
            <p:cNvSpPr/>
            <p:nvPr/>
          </p:nvSpPr>
          <p:spPr>
            <a:xfrm>
              <a:off x="5817809" y="3314600"/>
              <a:ext cx="5090299" cy="507831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섹터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종목 매핑 </a:t>
              </a:r>
              <a:r>
                <a:rPr lang="ko-KR" altLang="en-US" sz="1100" dirty="0" err="1">
                  <a:latin typeface="페이퍼로지 7 Bold" pitchFamily="2" charset="-127"/>
                  <a:ea typeface="페이퍼로지 7 Bold" pitchFamily="2" charset="-127"/>
                </a:rPr>
                <a:t>큐레이션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 마스터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+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관리자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CRUD</a:t>
              </a: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누락 지표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(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목표가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배당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)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외부 소스 연동</a:t>
              </a: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섹터 태그 단일 소스 정규화</a:t>
              </a:r>
            </a:p>
          </p:txBody>
        </p:sp>
        <p:sp>
          <p:nvSpPr>
            <p:cNvPr id="105" name="모서리가 둥근 직사각형 1315">
              <a:extLst>
                <a:ext uri="{FF2B5EF4-FFF2-40B4-BE49-F238E27FC236}">
                  <a16:creationId xmlns:a16="http://schemas.microsoft.com/office/drawing/2014/main" id="{5FFFC23E-6928-45CC-B60C-95B46221A300}"/>
                </a:ext>
              </a:extLst>
            </p:cNvPr>
            <p:cNvSpPr/>
            <p:nvPr/>
          </p:nvSpPr>
          <p:spPr>
            <a:xfrm>
              <a:off x="6824507" y="2694598"/>
              <a:ext cx="3100166" cy="47542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rgbClr val="D9D9D9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 defTabSz="1066152" latinLnBrk="1"/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데이터 정확도</a:t>
              </a:r>
              <a:endParaRPr lang="en-US" altLang="ko-KR" sz="14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 defTabSz="1066152" latinLnBrk="1"/>
              <a:r>
                <a:rPr lang="en-US" altLang="ko-KR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z="105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구조적 한계 보완</a:t>
              </a:r>
              <a:r>
                <a:rPr lang="en-US" altLang="ko-KR" sz="105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)</a:t>
              </a:r>
              <a:endParaRPr lang="ko-KR" altLang="en-US" sz="14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D6AFE8-733E-45F8-AABB-D45F4DB642C2}"/>
              </a:ext>
            </a:extLst>
          </p:cNvPr>
          <p:cNvGrpSpPr/>
          <p:nvPr/>
        </p:nvGrpSpPr>
        <p:grpSpPr>
          <a:xfrm>
            <a:off x="5817809" y="1602874"/>
            <a:ext cx="5090299" cy="913800"/>
            <a:chOff x="5817809" y="1602874"/>
            <a:chExt cx="5090299" cy="913800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BA76727-45EC-43F3-BFE8-FF8573635AD3}"/>
                </a:ext>
              </a:extLst>
            </p:cNvPr>
            <p:cNvSpPr/>
            <p:nvPr/>
          </p:nvSpPr>
          <p:spPr>
            <a:xfrm>
              <a:off x="5817809" y="2178120"/>
              <a:ext cx="5090299" cy="33855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유사도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: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제목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단어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Jaccard → </a:t>
              </a:r>
              <a:r>
                <a:rPr lang="ko-KR" altLang="en-US" sz="1100" dirty="0" err="1">
                  <a:latin typeface="페이퍼로지 7 Bold" pitchFamily="2" charset="-127"/>
                  <a:ea typeface="페이퍼로지 7 Bold" pitchFamily="2" charset="-127"/>
                </a:rPr>
                <a:t>임베딩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·TF-IDF (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의미 기반 그룹화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)</a:t>
              </a: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호재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악재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: few-shot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채점 </a:t>
              </a:r>
              <a:r>
                <a:rPr lang="ko-KR" altLang="en-US" sz="1100" dirty="0" err="1">
                  <a:latin typeface="페이퍼로지 7 Bold" pitchFamily="2" charset="-127"/>
                  <a:ea typeface="페이퍼로지 7 Bold" pitchFamily="2" charset="-127"/>
                </a:rPr>
                <a:t>루브릭으로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 점수 일관성 향상</a:t>
              </a:r>
            </a:p>
          </p:txBody>
        </p:sp>
        <p:sp>
          <p:nvSpPr>
            <p:cNvPr id="109" name="모서리가 둥근 직사각형 1315">
              <a:extLst>
                <a:ext uri="{FF2B5EF4-FFF2-40B4-BE49-F238E27FC236}">
                  <a16:creationId xmlns:a16="http://schemas.microsoft.com/office/drawing/2014/main" id="{5E3FEFFA-BEC5-4C83-8EA3-B32B8CDE1D49}"/>
                </a:ext>
              </a:extLst>
            </p:cNvPr>
            <p:cNvSpPr/>
            <p:nvPr/>
          </p:nvSpPr>
          <p:spPr>
            <a:xfrm>
              <a:off x="6824506" y="1602874"/>
              <a:ext cx="3100166" cy="47542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rgbClr val="D9D9D9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lvl="0" algn="ctr" defTabSz="1066152" latinLnBrk="1">
                <a:defRPr/>
              </a:pPr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분석 품질 고도화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C7770B-3724-46A0-9BFA-72838E0FCF31}"/>
              </a:ext>
            </a:extLst>
          </p:cNvPr>
          <p:cNvGrpSpPr/>
          <p:nvPr/>
        </p:nvGrpSpPr>
        <p:grpSpPr>
          <a:xfrm>
            <a:off x="5817809" y="4123405"/>
            <a:ext cx="5090299" cy="1127833"/>
            <a:chOff x="5817809" y="4081505"/>
            <a:chExt cx="5090299" cy="1127833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6D5F997-33B8-4BEF-BF46-9EF915C3E50C}"/>
                </a:ext>
              </a:extLst>
            </p:cNvPr>
            <p:cNvSpPr/>
            <p:nvPr/>
          </p:nvSpPr>
          <p:spPr>
            <a:xfrm>
              <a:off x="5817809" y="4701507"/>
              <a:ext cx="5090299" cy="507831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자동 스케줄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+ "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마지막 분석 시각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표시로 신뢰성을 확보</a:t>
              </a:r>
              <a:endParaRPr lang="en-US" altLang="ko-KR" sz="1100" dirty="0">
                <a:latin typeface="페이퍼로지 7 Bold" pitchFamily="2" charset="-127"/>
                <a:ea typeface="페이퍼로지 7 Bold" pitchFamily="2" charset="-127"/>
              </a:endParaRP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관심 종목 급변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영향도 임계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유사 뉴스 급증 시 메일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푸시 알림</a:t>
              </a: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일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주 요약 리포트 자동 발송</a:t>
              </a:r>
            </a:p>
          </p:txBody>
        </p:sp>
        <p:sp>
          <p:nvSpPr>
            <p:cNvPr id="132" name="모서리가 둥근 직사각형 1315">
              <a:extLst>
                <a:ext uri="{FF2B5EF4-FFF2-40B4-BE49-F238E27FC236}">
                  <a16:creationId xmlns:a16="http://schemas.microsoft.com/office/drawing/2014/main" id="{FFFD3534-3DC4-47C1-A051-C0B63B00147B}"/>
                </a:ext>
              </a:extLst>
            </p:cNvPr>
            <p:cNvSpPr/>
            <p:nvPr/>
          </p:nvSpPr>
          <p:spPr>
            <a:xfrm>
              <a:off x="6824507" y="4081505"/>
              <a:ext cx="3100166" cy="47542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rgbClr val="D9D9D9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 defTabSz="1066152" latinLnBrk="1"/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알림</a:t>
              </a:r>
              <a:r>
                <a:rPr lang="en-US" altLang="ko-KR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·</a:t>
              </a:r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자동화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8119C68-6FA2-4884-841D-4C1180906575}"/>
              </a:ext>
            </a:extLst>
          </p:cNvPr>
          <p:cNvGrpSpPr/>
          <p:nvPr/>
        </p:nvGrpSpPr>
        <p:grpSpPr>
          <a:xfrm>
            <a:off x="5817809" y="5490687"/>
            <a:ext cx="5090299" cy="1127833"/>
            <a:chOff x="5817809" y="5490687"/>
            <a:chExt cx="5090299" cy="1127833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7875AE5-7364-401A-B9F6-C2D13C501C11}"/>
                </a:ext>
              </a:extLst>
            </p:cNvPr>
            <p:cNvSpPr/>
            <p:nvPr/>
          </p:nvSpPr>
          <p:spPr>
            <a:xfrm>
              <a:off x="5817809" y="6110689"/>
              <a:ext cx="5090299" cy="507831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1pPr>
              <a:lvl2pPr marL="454990" indent="13000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2pPr>
              <a:lvl3pPr marL="911606" indent="24375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3pPr>
              <a:lvl4pPr marL="1368221" indent="35749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4pPr>
              <a:lvl5pPr marL="1824836" indent="47124" algn="l" defTabSz="911606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5pPr>
              <a:lvl6pPr marL="233995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6pPr>
              <a:lvl7pPr marL="2807940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7pPr>
              <a:lvl8pPr marL="327592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8pPr>
              <a:lvl9pPr marL="3743919" algn="l" defTabSz="935980" rtl="0" eaLnBrk="1" latinLnBrk="1" hangingPunct="1">
                <a:defRPr kumimoji="1" kern="1200">
                  <a:solidFill>
                    <a:schemeClr val="tx1"/>
                  </a:solidFill>
                  <a:latin typeface="맑은 고딕" pitchFamily="50" charset="-127"/>
                  <a:ea typeface="굴림" pitchFamily="50" charset="-127"/>
                  <a:cs typeface="+mn-cs"/>
                </a:defRPr>
              </a:lvl9pPr>
            </a:lstStyle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로그인 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+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관심 키워드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/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종목 관리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개인화 대시보드</a:t>
              </a: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API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키 외부화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·CI/CD·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스케줄러 모니터링</a:t>
              </a:r>
            </a:p>
            <a:p>
              <a:pPr lvl="0" algn="ctr" defTabSz="839128" fontAlgn="auto" latinLnBrk="0">
                <a:spcBef>
                  <a:spcPts val="0"/>
                </a:spcBef>
                <a:spcAft>
                  <a:spcPts val="0"/>
                </a:spcAft>
                <a:buSzPct val="100000"/>
                <a:defRPr/>
              </a:pP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 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종목별 호재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/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악재 타임라인</a:t>
              </a:r>
              <a:r>
                <a:rPr lang="en-US" altLang="ko-KR" sz="11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100" dirty="0">
                  <a:latin typeface="페이퍼로지 7 Bold" pitchFamily="2" charset="-127"/>
                  <a:ea typeface="페이퍼로지 7 Bold" pitchFamily="2" charset="-127"/>
                </a:rPr>
                <a:t>신호 기반 백테스트</a:t>
              </a:r>
            </a:p>
          </p:txBody>
        </p:sp>
        <p:sp>
          <p:nvSpPr>
            <p:cNvPr id="45" name="모서리가 둥근 직사각형 1315">
              <a:extLst>
                <a:ext uri="{FF2B5EF4-FFF2-40B4-BE49-F238E27FC236}">
                  <a16:creationId xmlns:a16="http://schemas.microsoft.com/office/drawing/2014/main" id="{59757B4F-B21D-4FBC-8FA8-A167D7979A94}"/>
                </a:ext>
              </a:extLst>
            </p:cNvPr>
            <p:cNvSpPr/>
            <p:nvPr/>
          </p:nvSpPr>
          <p:spPr>
            <a:xfrm>
              <a:off x="6824507" y="5490687"/>
              <a:ext cx="3100166" cy="47542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 cap="flat" cmpd="sng" algn="ctr">
              <a:solidFill>
                <a:srgbClr val="D9D9D9"/>
              </a:solidFill>
              <a:prstDash val="solid"/>
              <a:miter lim="800000"/>
            </a:ln>
            <a:effectLst>
              <a:outerShdw blurRad="50800" dist="50800" dir="2700000" algn="tl" rotWithShape="0">
                <a:prstClr val="black">
                  <a:alpha val="20000"/>
                </a:prstClr>
              </a:outerShdw>
            </a:effectLst>
          </p:spPr>
          <p:txBody>
            <a:bodyPr wrap="none" lIns="0" tIns="0" rIns="0" bIns="0" rtlCol="0" anchor="ctr"/>
            <a:lstStyle/>
            <a:p>
              <a:pPr algn="ctr" defTabSz="1066152" latinLnBrk="1"/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개인화</a:t>
              </a:r>
              <a:r>
                <a:rPr lang="en-US" altLang="ko-KR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·</a:t>
              </a:r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운영</a:t>
              </a:r>
              <a:r>
                <a:rPr lang="en-US" altLang="ko-KR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·</a:t>
              </a:r>
              <a:r>
                <a:rPr lang="ko-KR" altLang="en-US" sz="14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페이퍼로지 6 SemiBold" pitchFamily="2" charset="-127"/>
                  <a:ea typeface="페이퍼로지 6 SemiBold" pitchFamily="2" charset="-127"/>
                </a:rPr>
                <a:t>확장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735248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1307</TotalTime>
  <Words>452</Words>
  <Application>Microsoft Office PowerPoint</Application>
  <PresentationFormat>와이드스크린</PresentationFormat>
  <Paragraphs>68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9" baseType="lpstr">
      <vt:lpstr>KoPubWorld돋움체_Pro Bold</vt:lpstr>
      <vt:lpstr>Pretendard SemiBold</vt:lpstr>
      <vt:lpstr>맑은 고딕</vt:lpstr>
      <vt:lpstr>페이퍼로지 3 Light</vt:lpstr>
      <vt:lpstr>페이퍼로지 5 Medium</vt:lpstr>
      <vt:lpstr>페이퍼로지 6 SemiBold</vt:lpstr>
      <vt:lpstr>페이퍼로지 7 Bold</vt:lpstr>
      <vt:lpstr>페이퍼로지 8 ExtraBold</vt:lpstr>
      <vt:lpstr>프리젠테이션 5 Medium</vt:lpstr>
      <vt:lpstr>프리젠테이션 6 SemiBold</vt:lpstr>
      <vt:lpstr>프리젠테이션 7 Bold</vt:lpstr>
      <vt:lpstr>프리젠테이션 8 ExtraBold</vt:lpstr>
      <vt:lpstr>Arial</vt:lpstr>
      <vt:lpstr>Century Schoolbook</vt:lpstr>
      <vt:lpstr>Wingdings 2</vt:lpstr>
      <vt:lpstr>보기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1408</dc:creator>
  <cp:lastModifiedBy>JEONGSANGWOOK</cp:lastModifiedBy>
  <cp:revision>94</cp:revision>
  <cp:lastPrinted>2026-06-12T04:08:39Z</cp:lastPrinted>
  <dcterms:created xsi:type="dcterms:W3CDTF">2026-06-12T00:53:11Z</dcterms:created>
  <dcterms:modified xsi:type="dcterms:W3CDTF">2026-06-17T02:04:06Z</dcterms:modified>
</cp:coreProperties>
</file>