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초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1F5F9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Ollama (로컬 CPU)</c:v>
                  </c:pt>
                  <c:pt idx="1">
                    <c:v>Groq (클라우드)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72</c:v>
                </c:pt>
                <c:pt idx="1">
                  <c:v>2.4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1F5F9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7A6BC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26354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7A6BC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A3D"/>
        </a:solidFill>
        <a:ln>
          <a:noFill/>
        </a:ln>
        <a:effectLst/>
      </c:spPr>
    </c:plotArea>
    <c:plotVisOnly val="1"/>
    <c:dispBlanksAs val="span"/>
  </c:chart>
  <c:spPr>
    <a:solidFill>
      <a:srgbClr val="1E2A3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정리 전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은</c:v>
                  </c:pt>
                  <c:pt idx="1">
                    <c:v>금</c:v>
                  </c:pt>
                  <c:pt idx="2">
                    <c:v>유가</c:v>
                  </c:pt>
                  <c:pt idx="3">
                    <c:v>조선</c:v>
                  </c:pt>
                  <c:pt idx="4">
                    <c:v>통신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9446</c:v>
                </c:pt>
                <c:pt idx="1">
                  <c:v>3822</c:v>
                </c:pt>
                <c:pt idx="2">
                  <c:v>1348</c:v>
                </c:pt>
                <c:pt idx="3">
                  <c:v>465</c:v>
                </c:pt>
                <c:pt idx="4">
                  <c:v>465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정리 후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은</c:v>
                  </c:pt>
                  <c:pt idx="1">
                    <c:v>금</c:v>
                  </c:pt>
                  <c:pt idx="2">
                    <c:v>유가</c:v>
                  </c:pt>
                  <c:pt idx="3">
                    <c:v>조선</c:v>
                  </c:pt>
                  <c:pt idx="4">
                    <c:v>통신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182</c:v>
                </c:pt>
                <c:pt idx="1">
                  <c:v>165</c:v>
                </c:pt>
                <c:pt idx="2">
                  <c:v>133</c:v>
                </c:pt>
                <c:pt idx="3">
                  <c:v>119</c:v>
                </c:pt>
                <c:pt idx="4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7A6BC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6354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7A6BC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E2A3D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97A6BC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solidFill>
      <a:srgbClr val="1E2A3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011680"/>
            <a:ext cx="5943600" cy="5943600"/>
          </a:xfrm>
          <a:prstGeom prst="ellipse">
            <a:avLst/>
          </a:prstGeom>
          <a:solidFill>
            <a:srgbClr val="12243B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114800" cy="4114800"/>
          </a:xfrm>
          <a:prstGeom prst="ellipse">
            <a:avLst/>
          </a:prstGeom>
          <a:solidFill>
            <a:srgbClr val="101E3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코드 분석 · 발표자료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NewsSignal AI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뉴스 기반 주식 호재·악재 분석 대시보드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48640" y="4160520"/>
            <a:ext cx="1051560" cy="411480"/>
          </a:xfrm>
          <a:prstGeom prst="roundRect">
            <a:avLst>
              <a:gd name="adj" fmla="val 48889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1605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JDK 8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1801368" y="4160520"/>
            <a:ext cx="2002536" cy="411480"/>
          </a:xfrm>
          <a:prstGeom prst="roundRect">
            <a:avLst>
              <a:gd name="adj" fmla="val 48889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1368" y="4160520"/>
            <a:ext cx="20025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Servlet · JSP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005072" y="4160520"/>
            <a:ext cx="1289304" cy="411480"/>
          </a:xfrm>
          <a:prstGeom prst="roundRect">
            <a:avLst>
              <a:gd name="adj" fmla="val 48889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05072" y="4160520"/>
            <a:ext cx="12893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95544" y="416052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95544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Tomcat WAR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42632" y="4160520"/>
            <a:ext cx="1645920" cy="411480"/>
          </a:xfrm>
          <a:prstGeom prst="roundRect">
            <a:avLst>
              <a:gd name="adj" fmla="val 48889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42632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· Groq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B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도구·기법 선택 이유 · 단계별 구현 원리 · 문제와 수정 · 향후 개선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13232" y="150876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554480" y="16002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54480" y="1874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무엇을, 왜, 어떤 제약으로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2512" y="150876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7223760" y="16002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223760" y="187452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계층·패키지·외부 연동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228600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1554480" y="2377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파이프라인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54480" y="2651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→ 그룹화 → 분석 → 표출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28600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82512" y="228600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223760" y="23774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구현 상세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223760" y="265176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· 분석/요약 · 표출 · 인프라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13232" y="306324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155448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 이유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34290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썼나 · 장단점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06324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82512" y="306324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223760" y="315468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기법 개념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223760" y="342900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무슨 개념이고 왜 썼나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84048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" y="384048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1554480" y="39319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구현 &amp; 변천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54480" y="42062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 방식과 그만둔 것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384048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382512" y="384048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300" dirty="0"/>
          </a:p>
        </p:txBody>
      </p:sp>
      <p:sp>
        <p:nvSpPr>
          <p:cNvPr id="34" name="Text 32"/>
          <p:cNvSpPr/>
          <p:nvPr/>
        </p:nvSpPr>
        <p:spPr>
          <a:xfrm>
            <a:off x="7223760" y="39319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문제와 해결 (5)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7223760" y="42062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데이터·시세·구조·LLM·섹터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61772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13232" y="461772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2300" dirty="0"/>
          </a:p>
        </p:txBody>
      </p:sp>
      <p:sp>
        <p:nvSpPr>
          <p:cNvPr id="38" name="Text 36"/>
          <p:cNvSpPr/>
          <p:nvPr/>
        </p:nvSpPr>
        <p:spPr>
          <a:xfrm>
            <a:off x="1554480" y="4709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 방식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1554480" y="4983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지금은 이렇게 동작한다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4617720"/>
            <a:ext cx="5440680" cy="658368"/>
          </a:xfrm>
          <a:prstGeom prst="roundRect">
            <a:avLst>
              <a:gd name="adj" fmla="val 125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382512" y="4617720"/>
            <a:ext cx="777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2300" dirty="0"/>
          </a:p>
        </p:txBody>
      </p:sp>
      <p:sp>
        <p:nvSpPr>
          <p:cNvPr id="42" name="Text 40"/>
          <p:cNvSpPr/>
          <p:nvPr/>
        </p:nvSpPr>
        <p:spPr>
          <a:xfrm>
            <a:off x="7223760" y="4709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개선 제안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223760" y="498348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다음에 무엇을 할까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32120" cy="2240280"/>
          </a:xfrm>
          <a:prstGeom prst="roundRect">
            <a:avLst>
              <a:gd name="adj" fmla="val 3673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 목적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5029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뉴스를 수집·AI 분석해 종목/섹터별 호재·악재 신호를 시각화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뉴스를 그룹화해 대표 1건만 LLM 분석 → 비용 절감이 설계의 핵심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실시간 시세·DART 재무와 연동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554480"/>
            <a:ext cx="5440680" cy="2240280"/>
          </a:xfrm>
          <a:prstGeom prst="roundRect">
            <a:avLst>
              <a:gd name="adj" fmla="val 3673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🔒  기술 제약 (고정)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14884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JDK 8 · 순수 Servlet 3.0 + JSP + MariaDB + Tomcat WAR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Boot / React / FastAPI 도입 금지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라이브러리도 JDK8 호환 버전 상한 유지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977640"/>
            <a:ext cx="11155680" cy="2286000"/>
          </a:xfrm>
          <a:prstGeom prst="roundRect">
            <a:avLst>
              <a:gd name="adj" fmla="val 3600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🔗  외부 연동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2960" y="461772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8992" y="4864608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4754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뉴스 API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078992" y="5257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기사 수집 (키워드 검색)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520440" y="461772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76472" y="4864608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3977640" y="4754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OpenAPI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776472" y="5257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시세·차트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17920" y="461772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73952" y="4864608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4754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DART OpenAPI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73952" y="5257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재무·개황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915400" y="461772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171432" y="4864608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26" name="Text 24"/>
          <p:cNvSpPr/>
          <p:nvPr/>
        </p:nvSpPr>
        <p:spPr>
          <a:xfrm>
            <a:off x="9372600" y="47548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171432" y="5257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Groq / Gemini / Ollama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아키텍처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155680" cy="914400"/>
          </a:xfrm>
          <a:prstGeom prst="roundRect">
            <a:avLst>
              <a:gd name="adj" fmla="val 90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01952"/>
            <a:ext cx="310896" cy="31089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719072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표출 (user)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389120" y="1719072"/>
            <a:ext cx="7132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DashboardServlet · StockInfoServlet · JSP/JS 대시보드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24328"/>
            <a:ext cx="11155680" cy="914400"/>
          </a:xfrm>
          <a:prstGeom prst="roundRect">
            <a:avLst>
              <a:gd name="adj" fmla="val 90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26080"/>
            <a:ext cx="310896" cy="31089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2743200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(analyzer)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2743200"/>
            <a:ext cx="7132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SimilarityService · AnalyzeService · StockResolver · GroupSummaryService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11155680" cy="914400"/>
          </a:xfrm>
          <a:prstGeom prst="roundRect">
            <a:avLst>
              <a:gd name="adj" fmla="val 90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950208"/>
            <a:ext cx="310896" cy="31089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1280160" y="3767328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(collector)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389120" y="3767328"/>
            <a:ext cx="7132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NaverNewsApiCollector · QuotaGuard · Scheduler · CollectJob · AnalyzeJob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672584"/>
            <a:ext cx="11155680" cy="914400"/>
          </a:xfrm>
          <a:prstGeom prst="roundRect">
            <a:avLst>
              <a:gd name="adj" fmla="val 90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974336"/>
            <a:ext cx="310896" cy="31089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791456"/>
            <a:ext cx="32004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 (common) · 저장소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89120" y="4791456"/>
            <a:ext cx="7132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Db(HikariCP) · CsrfFilter · KisApiClient   |   MariaDB (utf8mb4)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126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B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Tomcat·DB를 형제 프로젝트와 공유 → 컨텍스트를 /newssignal2 로 분리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PIPELINE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파이프라인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84832" cy="2651760"/>
          </a:xfrm>
          <a:prstGeom prst="roundRect">
            <a:avLst>
              <a:gd name="adj" fmla="val 3947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289304" y="2148840"/>
            <a:ext cx="603504" cy="6035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1289304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3337560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네이버 API · 키워드 기반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적재 (제목/요약/링크)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52344" y="1920240"/>
            <a:ext cx="2084832" cy="2651760"/>
          </a:xfrm>
          <a:prstGeom prst="roundRect">
            <a:avLst>
              <a:gd name="adj" fmla="val 3947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3008" y="2148840"/>
            <a:ext cx="603504" cy="60350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3493008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843784" y="28803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그룹화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889504" y="3337560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content_hash 중복제거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Jaccard 유사도 그룹화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956048" y="1920240"/>
            <a:ext cx="2084832" cy="2651760"/>
          </a:xfrm>
          <a:prstGeom prst="roundRect">
            <a:avLst>
              <a:gd name="adj" fmla="val 3947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696712" y="2148840"/>
            <a:ext cx="603504" cy="6035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5696712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047488" y="28803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분석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5093208" y="3337560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1건만 LLM 호출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호재/악재·영향도·섹터·종목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159752" y="1920240"/>
            <a:ext cx="2084832" cy="2651760"/>
          </a:xfrm>
          <a:prstGeom prst="roundRect">
            <a:avLst>
              <a:gd name="adj" fmla="val 3947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00416" y="2148840"/>
            <a:ext cx="603504" cy="60350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7900416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251192" y="28803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매핑·전파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296912" y="3337560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StockResolver 종목 매칭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 전체에 결과 전파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363456" y="1920240"/>
            <a:ext cx="2084832" cy="2651760"/>
          </a:xfrm>
          <a:prstGeom prst="roundRect">
            <a:avLst>
              <a:gd name="adj" fmla="val 3947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104120" y="2148840"/>
            <a:ext cx="603504" cy="60350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10104120" y="214884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454896" y="2880360"/>
            <a:ext cx="1901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표출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500616" y="3337560"/>
            <a:ext cx="18105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DashboardServlet 집계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3일 대시보드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48640" y="4892040"/>
            <a:ext cx="11155680" cy="1234440"/>
          </a:xfrm>
          <a:prstGeom prst="roundRect">
            <a:avLst>
              <a:gd name="adj" fmla="val 6667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68680" y="5074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💡 설계상 절대 원칙   </a:t>
            </a:r>
            <a:pPr indent="0" marL="0">
              <a:buNone/>
            </a:pPr>
            <a:r>
              <a:rPr lang="en-US" sz="13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그룹화 → 대표 1건만 분석 → 그룹 전파.  뉴스 건건이 분석하면 LLM 비용이 폭증한다.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단계별 구현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(Collect)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846320" cy="4023360"/>
          </a:xfrm>
          <a:prstGeom prst="roundRect">
            <a:avLst>
              <a:gd name="adj" fmla="val 2045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시스템 · 클래스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343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NaverNewsApiCollector — 네이버 검색 API → DTO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CollectJob — 수집 1회 실행(적재까지만)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QuotaGuard — 일일 25,000 한도·동적 주기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NewsCollectScheduler — 데몬 주기 실행기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ArticleService — 저장·중복제거·그룹화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SimilarityService — content_hash·Jaccard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6126480" cy="4023360"/>
          </a:xfrm>
          <a:prstGeom prst="roundRect">
            <a:avLst>
              <a:gd name="adj" fmla="val 2045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원리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52160" y="2212848"/>
            <a:ext cx="57150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키워드 선정: 증시·경제·정책·과학 + 상장 종목 전체 (1회 100개씩 회전)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한도 체크(QuotaGuard) → 네이버 API 호출(키워드당 30건)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content_hash로 완전중복 제거 (중복은 그룹 카운트만 +1)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최근 24h 활성 그룹과 Jaccard 매칭 → 합류·대표교체 또는 신규 그룹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그룹·섹터 매핑 + 요약 갱신, 다음 회전 인덱스 저장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155680" cy="749808"/>
          </a:xfrm>
          <a:prstGeom prst="roundRect">
            <a:avLst>
              <a:gd name="adj" fmla="val 10976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5669280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 · 도구   </a:t>
            </a:r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content_hash 중복제거 · Jaccard 유사 그룹화 · 데몬 스케줄러(누수 방지) · 동적 주기   |   현재: 자동 10분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단계별 구현 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· 요약 (Analyze)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846320" cy="4023360"/>
          </a:xfrm>
          <a:prstGeom prst="roundRect">
            <a:avLst>
              <a:gd name="adj" fmla="val 2045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시스템 · 클래스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343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AnalyzeJob — 분석 1회 실행(중복 가드)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AnalyzeService — 대상 조회·배치 호출·저장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callGroqBatch / Ollama / Gemini — 제공자별 LLM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parseBatchResults — 견고 파싱 + 점수 clamp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StockResolver — 종목명·코드 매칭(2,700+)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GroupSummaryService — 규칙기반 요약(보조)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6126480" cy="4023360"/>
          </a:xfrm>
          <a:prstGeom prst="roundRect">
            <a:avLst>
              <a:gd name="adj" fmla="val 2045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원리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52160" y="2212848"/>
            <a:ext cx="57150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대상: 미분석 + duplicate_count≥2 + 최근 2일, 노출도·최신 순 상위 200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제공자 선택(groq/ollama/gemini) → 그룹 N개를 JSON 배치로 호출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JSON 강제 프롬프트(한국어·허용 섹터·스키마) → 파싱·점수 clamp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저장: 호재/악재·영향도·요약 + 그룹 전파(analyzed_yn='Y')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섹터·종목·거시 매핑(이름매칭+화이트리스트) / 429 한도 처리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155680" cy="749808"/>
          </a:xfrm>
          <a:prstGeom prst="roundRect">
            <a:avLst>
              <a:gd name="adj" fmla="val 10976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5669280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 · 도구   </a:t>
            </a:r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1건+전파 · 배치 호출 · 노출도 컷 · 제공자 추상화 · JSON 강제   |   현재: '분석·요약 실행' 버튼(Groq)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단계별 구현 ③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표출 (Display)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846320" cy="4023360"/>
          </a:xfrm>
          <a:prstGeom prst="roundRect">
            <a:avLst>
              <a:gd name="adj" fmla="val 2045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시스템 · 클래스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343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DashboardServlet — /api/dashboard 집계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StockInfoServlet — /api/stock/info 시세·재무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KisApiClient — 시세 캐시·throttle·토큰영속화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dashboard.jsp / dashboard.js — 화면·비동기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CollectRunServlet / StatusServlet — 버튼·폴링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6126480" cy="4023360"/>
          </a:xfrm>
          <a:prstGeom prst="roundRect">
            <a:avLst>
              <a:gd name="adj" fmla="val 2045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원리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52160" y="2212848"/>
            <a:ext cx="57150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집계 쿼리(PreparedStatement): 주요 이슈·섹터·종목·거시 신호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공통 필터: analyzed_yn='Y' AND 최근 3일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섹터/종목 숫자 = Σ duplicate_count (버즈량 가중)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실시간 시세: KIS 12초 캐시 + 실패 시 마지막 정상값(0 깜빡임 방지)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버튼: CSRF POST → AnalyzeJob → 상태 폴링 → 화면 갱신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155680" cy="749808"/>
          </a:xfrm>
          <a:prstGeom prst="roundRect">
            <a:avLst>
              <a:gd name="adj" fmla="val 10976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5669280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 · 도구   </a:t>
            </a:r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 집계 · 3일 윈도우 · 캐시/throttle · CSRF/XSS 방어   |   프론트: vanilla JS, 15초 갱신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단계별 구현 ④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 (Infra)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4846320" cy="4023360"/>
          </a:xfrm>
          <a:prstGeom prst="roundRect">
            <a:avLst>
              <a:gd name="adj" fmla="val 2045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373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시스템 · 클래스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3434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Tomcat 8.5 WAR — 컨텍스트 /newssignal2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MariaDB 10.1 + HikariCP 풀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Groq(기본) / Ollama(선택) / Gemini(선택)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env/ 번들 — JDK·Tomcat·Maven·MariaDB</a:t>
            </a:r>
            <a:endParaRPr lang="en-US" sz="113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13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Git / GitHub — 코드·문서·SQL</a:t>
            </a:r>
            <a:endParaRPr lang="en-US" sz="1130" dirty="0"/>
          </a:p>
        </p:txBody>
      </p:sp>
      <p:sp>
        <p:nvSpPr>
          <p:cNvPr id="7" name="Shape 5"/>
          <p:cNvSpPr/>
          <p:nvPr/>
        </p:nvSpPr>
        <p:spPr>
          <a:xfrm>
            <a:off x="5577840" y="1554480"/>
            <a:ext cx="6126480" cy="4023360"/>
          </a:xfrm>
          <a:prstGeom prst="roundRect">
            <a:avLst>
              <a:gd name="adj" fmla="val 2045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85216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원리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852160" y="2212848"/>
            <a:ext cx="57150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1.  start.ps1: 키 설정 → MariaDB 자동기동 → (Ollama) → 빌드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2.  WAR을 webapps/newssignal2.war 로 핫 배포 → catalina run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3.  MariaDB 먼저 안 뜨면 HikariCP 실패=404 → 자동기동으로 방지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4.  형제 /newssignal과 Tomcat·DB·KIS계정 공유 → 비활성 권장</a:t>
            </a:r>
            <a:endParaRPr lang="en-US" sz="1160" dirty="0"/>
          </a:p>
          <a:p>
            <a:pPr indent="0" marL="0">
              <a:lnSpc>
                <a:spcPct val="102000"/>
              </a:lnSpc>
              <a:spcAft>
                <a:spcPts val="900"/>
              </a:spcAft>
              <a:buNone/>
            </a:pPr>
            <a:r>
              <a:rPr lang="en-US" sz="116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  키는 환경변수, start.ps1·env/는 .gitignore</a:t>
            </a:r>
            <a:endParaRPr lang="en-US" sz="1160" dirty="0"/>
          </a:p>
        </p:txBody>
      </p:sp>
      <p:sp>
        <p:nvSpPr>
          <p:cNvPr id="10" name="Shape 8"/>
          <p:cNvSpPr/>
          <p:nvPr/>
        </p:nvSpPr>
        <p:spPr>
          <a:xfrm>
            <a:off x="548640" y="5669280"/>
            <a:ext cx="11155680" cy="749808"/>
          </a:xfrm>
          <a:prstGeom prst="roundRect">
            <a:avLst>
              <a:gd name="adj" fmla="val 10976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2960" y="5669280"/>
            <a:ext cx="10607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기법 · 도구   </a:t>
            </a:r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기동 · 토큰 디스크 영속화 · 컨텍스트 분리 · 비밀키 외부화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WHY THESE TOOLS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선택 이유 · 장단점</a:t>
            </a:r>
            <a:endParaRPr lang="en-US" sz="2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1556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2743200"/>
                <a:gridCol w="2971800"/>
                <a:gridCol w="2971800"/>
              </a:tblGrid>
              <a:tr h="5349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왜 사용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8BDF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단점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349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Java 8 · Servlet/JSP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제약(고정)·가벼운 웹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의존성 최소·안정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보일러플레이트·최신문법 X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Tomcat · WAR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서블릿 표준·핫배포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가볍고 익숙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형제앱과 포트/컨텍스트 충돌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MariaDB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무료·한국어·집계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SQL 친숙·트랜잭션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한글 REGEXP 불안정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HikariCP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빠른 커넥션 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표준·누수 감지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미기동 시 404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네이버 뉴스 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합법 수집·키 보호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안정·일 25,000회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본문 전문 X (요약만)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KIS OpenAPI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실시간 시세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정확·실시간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토큰/초당 한도 빡빡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</a:tr>
              <a:tr h="5349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1F5F9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Groq (LLM)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무료·빠름·OpenAI 호환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1건 2초·한국어 OK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97A6B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Cloudflare UA 차단·RPM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6354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13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B9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외: Gson(JSON) · Maven(빌드) · DART(재무) · Git/GitHub(형상) · start.ps1(원클릭 기동)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TECHNIQUES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기법 개념 · 이유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19656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09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그룹화 (Jaccard)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2075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제목 단어 겹침으로 같은 이슈 묶기 → 분석 대상 압축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572768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73952" y="1819656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7099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1건 + 전파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492240" y="20756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그룹당 1건만 LLM → 결과를 전체 전파 (비용 절감)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670048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2916936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2807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producer / consumer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822960" y="3172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수집=적재, 분석=큐 소비. DB의 analyzed_yn 이 곧 큐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2670048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2916936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8" name="Text 16"/>
          <p:cNvSpPr/>
          <p:nvPr/>
        </p:nvSpPr>
        <p:spPr>
          <a:xfrm>
            <a:off x="6720840" y="280720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배치 LLM 호출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92240" y="31729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N개 그룹을 1호출로 묶어 RPD/RPM 절약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67328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4014216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1051560" y="3904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+ 폴백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22960" y="42702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 12초 캐시, 실패 시 마지막 정상값(0 깜빡임 방지)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3767328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73952" y="4014216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9044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이중검사 락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492240" y="427024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토큰을 한 스레드만 발급 → 동시발급(EGW00133) 방지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864608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04672" y="5111496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0" name="Text 28"/>
          <p:cNvSpPr/>
          <p:nvPr/>
        </p:nvSpPr>
        <p:spPr>
          <a:xfrm>
            <a:off x="1051560" y="5001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영속화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822960" y="5367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토큰을 파일로 저장 → 재기동마다 재발급 안 함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4864608"/>
            <a:ext cx="5440680" cy="960120"/>
          </a:xfrm>
          <a:prstGeom prst="roundRect">
            <a:avLst>
              <a:gd name="adj" fmla="val 8571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73952" y="5111496"/>
            <a:ext cx="128016" cy="128016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34" name="Text 32"/>
          <p:cNvSpPr/>
          <p:nvPr/>
        </p:nvSpPr>
        <p:spPr>
          <a:xfrm>
            <a:off x="6720840" y="500176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문맥 키워드 매칭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6492240" y="5367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금/은은 시세 문맥일 때만 인정 → 거짓 양성 제거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HOW IT STARTED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초기 구현 방식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532120" cy="4526280"/>
          </a:xfrm>
          <a:prstGeom prst="roundRect">
            <a:avLst>
              <a:gd name="adj" fmla="val 1818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🧱  골격(skeleton)에서 출발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5029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알고리즘(유사도 그룹화)은 완성, 일부는 TODO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수집과 분석이 한 실행에 결합 — CollectJob이 수집 직후 동기로 분석까지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= Gemini, 분석은 수동 버튼으로 트리거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없을 때는 목업 분석(generateMockAnalysis) 으로 대체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매핑은 4종목뿐 · market 컬럼은 'KOSPI/KOSDAQ' 자리표시자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600200"/>
            <a:ext cx="5440680" cy="4526280"/>
          </a:xfrm>
          <a:prstGeom prst="roundRect">
            <a:avLst>
              <a:gd name="adj" fmla="val 1818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37960" y="17830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그래서 생긴 한계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2240280"/>
            <a:ext cx="4937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수집이 LLM 속도·무료 한도에 묶여 느려짐 (최대 5분 대기)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품질 이슈 — 쓰레기 '지수' 섹터, 자리표시자 market, 4종목 매핑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시세가 갱신마다 0 ↔ 정상으로 깜빡임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 LLM 한도 초과로 백로그가 안 빠짐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섹터 자동매칭의 대량 거짓 양성(금·은 등)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WHAT WE DROPPED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사용하다 그만둔 것 · 이유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19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무료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버린 이유: RPD 20회/일 → 백로그 못 빠짐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24597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보조 옵션으로 강등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17920" y="1572768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92240" y="1719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로컬 (CPU)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492240" y="2103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버린 이유: 품질 모델 1건 72초 → 너무 느림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492240" y="24597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GPU 머신용 옵션 유지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 / exaone 2.4b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35844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버린 이유: 중국어 드리프트 / 스키마 실패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39410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8717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EXAONE 7.8B 채택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3054096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92240" y="3200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결합 (수집·분석)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92240" y="35844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버린 이유: 수집이 LLM에 묶여 지연·실패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394106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producer/consumer 분리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35424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2960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단일글자 섹터 매칭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822960" y="50657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버린 이유: 은행·현금·골드만삭스 오매칭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22960" y="5422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문맥매칭 · LLM 판단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17920" y="4535424"/>
            <a:ext cx="5440680" cy="1280160"/>
          </a:xfrm>
          <a:prstGeom prst="roundRect">
            <a:avLst>
              <a:gd name="adj" fmla="val 6429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92240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목업 분석 / OpenAI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492240" y="506577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버린 이유: 데이터 오염 / 유료 부담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92240" y="542239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Groq 실연결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문제와 해결 ①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품질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937760" cy="4526280"/>
          </a:xfrm>
          <a:prstGeom prst="roundRect">
            <a:avLst>
              <a:gd name="adj" fmla="val 1818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출력이 비거나 엉뚱함: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쓰레기 '지수' 섹터, market='KOSPI/KOSDAQ' 자리표시자, news_stock_map이 단 4종목.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033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4434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목업 분석이 4종목만 하드코딩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PopulateStocks가 HTTP 302로 0행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섹터-종목 마스터 매핑 공백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1600200"/>
            <a:ext cx="6035040" cy="4526280"/>
          </a:xfrm>
          <a:prstGeom prst="roundRect">
            <a:avLst>
              <a:gd name="adj" fmla="val 1818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181051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8105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0" y="22860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PopulateStocks를 KIND HTTPS로 재작성 → KOSPI 834 / KOSDAQ 1773 등재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StockResolver 신설 — 이름·코드 매칭(2,700+ 종목)으로 매핑 2,265건으로 확대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map_sector_stocks.sql 로 모든 업종/테마에 종목 연결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쓰레기 섹터 화이트리스트 가드(지수·거시경제 제외)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5257800"/>
            <a:ext cx="6035040" cy="822960"/>
          </a:xfrm>
          <a:prstGeom prst="roundRect">
            <a:avLst>
              <a:gd name="adj" fmla="val 100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5257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  </a:t>
            </a:r>
            <a:pPr indent="0" marL="0">
              <a:buNone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4종목 → 2,265종목 매핑, 섹터 패널 정상화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문제와 해결 ②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KIS 시세 깜빡임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937760" cy="4526280"/>
          </a:xfrm>
          <a:prstGeom prst="roundRect">
            <a:avLst>
              <a:gd name="adj" fmla="val 1818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종목의 거래량·거래대금·시가총액이 갱신 때마다 0 ↔ 정상값을 반복.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033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4434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KIS rate limit(EGW00201) + 토큰 동시발급(EGW00133)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호출 실패 시 네이버 폴백이 vol/시총을 0으로 하드코딩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1600200"/>
            <a:ext cx="6035040" cy="4526280"/>
          </a:xfrm>
          <a:prstGeom prst="roundRect">
            <a:avLst>
              <a:gd name="adj" fmla="val 1818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181051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8105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0" y="22860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시세 캐시(12초) + 실패 시 마지막 정상값 반환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throttle + 토큰 발급 이중검사 락(동시발급 방지)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토큰을 디스크에 영속화 → 재기동마다 재발급 안 함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프론트는 0/빈값이면 갱신 스킵(직전 값 유지)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5257800"/>
            <a:ext cx="6035040" cy="822960"/>
          </a:xfrm>
          <a:prstGeom prst="roundRect">
            <a:avLst>
              <a:gd name="adj" fmla="val 100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5257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  </a:t>
            </a:r>
            <a:pPr indent="0" marL="0">
              <a:buNone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제거 · EGW 에러 대폭 감소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문제와 해결 ③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수집/분석 결합 → 분리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937760" cy="4526280"/>
          </a:xfrm>
          <a:prstGeom prst="roundRect">
            <a:avLst>
              <a:gd name="adj" fmla="val 1818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051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05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24028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수집이 분석에 묶여 LLM이 느리면 수집까지 지연·실패. 백로그가 쌓여도 안 빠짐.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70332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70332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4114800"/>
            <a:ext cx="4434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CollectJob이 수집 후 동기로 분석 호출(최대 5분 대기)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분석 처리량이 수집 유입량을 못 따라감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0" y="1600200"/>
            <a:ext cx="6035040" cy="4526280"/>
          </a:xfrm>
          <a:prstGeom prst="roundRect">
            <a:avLst>
              <a:gd name="adj" fmla="val 1818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943600" y="181051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181051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943600" y="2286000"/>
            <a:ext cx="54864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producer/consumer 분리 — CollectJob(적재만) + AnalyzeJob(분석)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DB의 analyzed_yn='N' 이 곧 작업 큐 역할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노출도 컷(duplicate_count) + 최근 2일 + 배치 호출로 처리량↑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수집은 자동, 분석은 독립 실행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669280" y="5257800"/>
            <a:ext cx="6035040" cy="822960"/>
          </a:xfrm>
          <a:prstGeom prst="roundRect">
            <a:avLst>
              <a:gd name="adj" fmla="val 100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0" y="5257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  </a:t>
            </a:r>
            <a:pPr indent="0" marL="0">
              <a:buNone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수집이 LLM에 안 막힘 · 중요 뉴스 우선 처리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문제와 해결 ④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분석 엔진의 여정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572000"/>
          </a:xfrm>
          <a:prstGeom prst="roundRect">
            <a:avLst>
              <a:gd name="adj" fmla="val 18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901952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783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 무료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54680" y="17830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RPD 20회/일 — 백로그를 못 빠뜨림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41248" y="2606040"/>
            <a:ext cx="128016" cy="128016"/>
          </a:xfrm>
          <a:prstGeom prst="ellipse">
            <a:avLst/>
          </a:prstGeom>
          <a:solidFill>
            <a:srgbClr val="F87171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24871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로컬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154680" y="24871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무료·무제한이나 GPU 없어 CPU만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" y="3310128"/>
            <a:ext cx="128016" cy="128016"/>
          </a:xfrm>
          <a:prstGeom prst="ellipse">
            <a:avLst/>
          </a:prstGeom>
          <a:solidFill>
            <a:srgbClr val="6B7B92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319125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└ qwen2.5:7b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154680" y="31912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한국어인데 중국어로 드리프트 ✗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" y="4014216"/>
            <a:ext cx="128016" cy="128016"/>
          </a:xfrm>
          <a:prstGeom prst="ellipse">
            <a:avLst/>
          </a:prstGeom>
          <a:solidFill>
            <a:srgbClr val="6B7B92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895344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└ exaone 2.4b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154680" y="38953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빠르나 스키마 못 따라감(빈 출력) 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41248" y="4718304"/>
            <a:ext cx="128016" cy="128016"/>
          </a:xfrm>
          <a:prstGeom prst="ellipse">
            <a:avLst/>
          </a:prstGeom>
          <a:solidFill>
            <a:srgbClr val="6B7B92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599432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└ exaone 7.8b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3154680" y="45994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품질OK, 그러나 1건 72초(200건≈4h)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41248" y="5422392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1051560" y="5303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Groq 클라우드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3154680" y="53035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무료·빠름 · 1건 2.4초 · 한국어 양호 ✓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554480"/>
            <a:ext cx="5486400" cy="4572000"/>
          </a:xfrm>
          <a:prstGeom prst="roundRect">
            <a:avLst>
              <a:gd name="adj" fmla="val 1800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175564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1건 분석 처리 시간 (초, 낮을수록 좋음)</a:t>
            </a:r>
            <a:endParaRPr lang="en-US" sz="135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6400800" y="2194560"/>
          <a:ext cx="51206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Text 23"/>
          <p:cNvSpPr/>
          <p:nvPr/>
        </p:nvSpPr>
        <p:spPr>
          <a:xfrm>
            <a:off x="6492240" y="507492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30배 빠름 — 함정: Groq는 Cloudflare 뒤 → Java 기본 UA 차단(403). User-Agent 헤더로 해결.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문제와 해결 ⑤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섹터 거짓 양성(금·은 등) 정리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0" cy="4572000"/>
          </a:xfrm>
          <a:prstGeom prst="roundRect">
            <a:avLst>
              <a:gd name="adj" fmla="val 18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6479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64792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194560"/>
            <a:ext cx="4526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섹터 매핑 1·2위가 '은' 9,446 / '금' 3,822 으로 비정상 폭증.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97180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97180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3401568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단일·짧은 글자를 부분일치로 매칭 →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은행·은퇴·금융·현금·골드만삭스·실버타운까지 다 잡힘.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4434840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434840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B12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4864608"/>
            <a:ext cx="4526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금·은은 본문 추출에서 제외하고 LLM 의미판단으로만 인정.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조선·사료·통신·기계는 문맥 표현이 있을 때만 매칭. related_sectors 재생성.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760720" y="1554480"/>
            <a:ext cx="5943600" cy="4572000"/>
          </a:xfrm>
          <a:prstGeom prst="roundRect">
            <a:avLst>
              <a:gd name="adj" fmla="val 1800"/>
            </a:avLst>
          </a:prstGeom>
          <a:solidFill>
            <a:srgbClr val="1E2A3D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35040" y="1755648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전 → 후 (섹터 매핑 건수)</a:t>
            </a:r>
            <a:endParaRPr lang="en-US" sz="135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5989320" y="224028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CURRENT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구현 방식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🗞️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45920" y="2304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10분 스케줄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증시·경제·정책·과학 + 상장 종목 키워드.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QuotaGuard 일일 한도(25k) 가드.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459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18745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315200" y="1874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분석·요약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0" y="2304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‘분석·요약 실행’ 버튼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92240" y="274320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적재된 뉴스를 Groq 배치 분석 →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호재/악재·영향도·섹터·종목 매핑.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64592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표출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45920" y="46360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BBF2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대시보드 (최근 3일)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이슈 · 연관 섹터(버즈량) ·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 신호 · 실시간 시세 바.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3977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73952" y="4206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315200" y="4206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인프라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315200" y="46360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78BF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원클릭 기동·영속화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92240" y="507492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start.ps1이 MariaDB·Ollama 자동기동.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디스크 캐시 · GitHub 연동.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· 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개선 제안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01952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18105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정확도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68680" y="230428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섹터 오매칭 잔여(조선·통신) 추가 정리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related_sectors 일관성 자동 보정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 버즈량 vs 고유 건수 지표 선택 옵션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459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901952"/>
            <a:ext cx="201168" cy="201168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6812280" y="181051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품질·성능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37960" y="230428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기반 유사도(TF-IDF/벡터)로 그룹화 고도화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프롬프트·few-shot 정교화로 판정 일관성↑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결과 캐싱·증분 처리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233672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1422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운영·보안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68680" y="46360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형제 /newssignal 분리 → 설정 리셋 차단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키 외부화(.env/Secret) · CI 빌드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스케줄/에러 모니터링·알림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39776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4233672"/>
            <a:ext cx="201168" cy="201168"/>
          </a:xfrm>
          <a:prstGeom prst="ellipse">
            <a:avLst/>
          </a:prstGeom>
          <a:solidFill>
            <a:srgbClr val="A78BFA"/>
          </a:solidFill>
          <a:ln/>
        </p:spPr>
      </p:sp>
      <p:sp>
        <p:nvSpPr>
          <p:cNvPr id="18" name="Text 16"/>
          <p:cNvSpPr/>
          <p:nvPr/>
        </p:nvSpPr>
        <p:spPr>
          <a:xfrm>
            <a:off x="6812280" y="4142232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확장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537960" y="46360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종목별 호재·악재 타임라인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급변 신호 실시간 알림(관심종목)</a:t>
            </a:r>
            <a:endParaRPr lang="en-US" sz="1250" dirty="0"/>
          </a:p>
          <a:p>
            <a:pPr marL="177800" indent="-177800">
              <a:lnSpc>
                <a:spcPct val="1020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신호 기반 간이 백테스트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291840"/>
            <a:ext cx="5943600" cy="5943600"/>
          </a:xfrm>
          <a:prstGeom prst="ellipse">
            <a:avLst/>
          </a:prstGeom>
          <a:solidFill>
            <a:srgbClr val="1020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골격에서 출발해, 5번의 문제를 거쳐</a:t>
            </a:r>
            <a:endParaRPr lang="en-US" sz="3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30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안정적인 무료 파이프라인으로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38404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4114800"/>
            <a:ext cx="128016" cy="128016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4005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품질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44622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4종목 → 2,265종목, 섹터 정밀화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251960" y="38404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26280" y="4114800"/>
            <a:ext cx="128016" cy="128016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1" name="Text 9"/>
          <p:cNvSpPr/>
          <p:nvPr/>
        </p:nvSpPr>
        <p:spPr>
          <a:xfrm>
            <a:off x="4727448" y="4005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시세·구조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526280" y="44622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캐시·토큰 영속화 · 수집/분석 분리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3840480"/>
            <a:ext cx="3520440" cy="1371600"/>
          </a:xfrm>
          <a:prstGeom prst="roundRect">
            <a:avLst>
              <a:gd name="adj" fmla="val 6000"/>
            </a:avLst>
          </a:prstGeom>
          <a:solidFill>
            <a:srgbClr val="172132"/>
          </a:solidFill>
          <a:ln w="12700">
            <a:solidFill>
              <a:srgbClr val="26354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4114800"/>
            <a:ext cx="128016" cy="128016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15" name="Text 13"/>
          <p:cNvSpPr/>
          <p:nvPr/>
        </p:nvSpPr>
        <p:spPr>
          <a:xfrm>
            <a:off x="8430768" y="400507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1F5F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엔진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229600" y="4462272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7A6B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Gemini→Ollama→Groq (≈30배 가속)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38BD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"수집은 자동, 분석은 버튼, 신호는 명확하게."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NewsSignal AI 프로젝트 분석</dc:title>
  <dc:subject>PptxGenJS Presentation</dc:subject>
  <dc:creator>NewsSignal</dc:creator>
  <cp:lastModifiedBy>NewsSignal</cp:lastModifiedBy>
  <cp:revision>1</cp:revision>
  <dcterms:created xsi:type="dcterms:W3CDTF">2026-06-16T07:26:23Z</dcterms:created>
  <dcterms:modified xsi:type="dcterms:W3CDTF">2026-06-16T07:26:23Z</dcterms:modified>
</cp:coreProperties>
</file>